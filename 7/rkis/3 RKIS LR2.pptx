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447" r:id="rId2"/>
    <p:sldId id="425" r:id="rId3"/>
    <p:sldId id="267" r:id="rId4"/>
    <p:sldId id="453" r:id="rId5"/>
    <p:sldId id="454" r:id="rId6"/>
    <p:sldId id="455" r:id="rId7"/>
    <p:sldId id="457" r:id="rId8"/>
    <p:sldId id="458" r:id="rId9"/>
    <p:sldId id="462" r:id="rId10"/>
    <p:sldId id="463" r:id="rId11"/>
    <p:sldId id="464" r:id="rId12"/>
    <p:sldId id="465" r:id="rId13"/>
    <p:sldId id="466" r:id="rId14"/>
    <p:sldId id="473" r:id="rId15"/>
    <p:sldId id="468" r:id="rId16"/>
    <p:sldId id="469" r:id="rId17"/>
    <p:sldId id="470" r:id="rId18"/>
    <p:sldId id="471" r:id="rId19"/>
    <p:sldId id="472" r:id="rId20"/>
  </p:sldIdLst>
  <p:sldSz cx="9144000" cy="6858000" type="screen4x3"/>
  <p:notesSz cx="6858000" cy="9144000"/>
  <p:defaultTextStyle>
    <a:defPPr>
      <a:defRPr lang="ru-RU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0000"/>
    <a:srgbClr val="0062AC"/>
    <a:srgbClr val="00823B"/>
    <a:srgbClr val="5BD4FF"/>
    <a:srgbClr val="618D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F1AB2-1976-4502-BF36-3FF5EA218861}" styleName="Средний стиль 4 -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734" autoAdjust="0"/>
    <p:restoredTop sz="87995" autoAdjust="0"/>
  </p:normalViewPr>
  <p:slideViewPr>
    <p:cSldViewPr>
      <p:cViewPr varScale="1">
        <p:scale>
          <a:sx n="81" d="100"/>
          <a:sy n="81" d="100"/>
        </p:scale>
        <p:origin x="-53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D8FCFE5F-97FC-4B09-AFED-545B9AE6989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A9D288DA-E95B-4751-BDAF-B1AF3691ED2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78465BBE-FDD2-4D06-9EA1-CBC1B18B7CF4}" type="datetimeFigureOut">
              <a:rPr lang="ru-RU"/>
              <a:pPr>
                <a:defRPr/>
              </a:pPr>
              <a:t>06.09.2025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625928FC-40D0-488B-9BB7-CC7D55EF75F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5E6EF470-B7F0-46D6-A9D4-5F5D754A5FB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5EC0366-A151-497E-8CE8-B51EFD52EA2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2647019"/>
      </p:ext>
    </p:extLst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ABC6574C-F1C0-4A2D-95EE-00381364986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28AB6867-3243-48EF-8DDA-B93464DF5E6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92AECDDF-910B-4637-9F49-B80BBD850515}" type="datetimeFigureOut">
              <a:rPr lang="ru-RU"/>
              <a:pPr>
                <a:defRPr/>
              </a:pPr>
              <a:t>06.09.2025</a:t>
            </a:fld>
            <a:endParaRPr lang="ru-RU"/>
          </a:p>
        </p:txBody>
      </p:sp>
      <p:sp>
        <p:nvSpPr>
          <p:cNvPr id="4" name="Образ слайда 3">
            <a:extLst>
              <a:ext uri="{FF2B5EF4-FFF2-40B4-BE49-F238E27FC236}">
                <a16:creationId xmlns="" xmlns:a16="http://schemas.microsoft.com/office/drawing/2014/main" id="{39837A83-4331-40B7-ABB6-5B923DF7B6C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>
            <a:extLst>
              <a:ext uri="{FF2B5EF4-FFF2-40B4-BE49-F238E27FC236}">
                <a16:creationId xmlns="" xmlns:a16="http://schemas.microsoft.com/office/drawing/2014/main" id="{BDE4048F-4561-43CD-95A8-842909E859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F1F75635-41A1-4563-8CAF-F06BEBB417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100D3C7D-DB34-4706-BC03-4335A18401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365EB20C-EB48-4885-B6EB-D81DD8607405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6232660"/>
      </p:ext>
    </p:extLst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="" xmlns:a16="http://schemas.microsoft.com/office/drawing/2014/main" id="{81D27414-54B9-4A98-82CE-38D40E0C4F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" t="19455" r="7315" b="9544"/>
          <a:stretch>
            <a:fillRect/>
          </a:stretch>
        </p:blipFill>
        <p:spPr bwMode="auto">
          <a:xfrm>
            <a:off x="-15875" y="1773238"/>
            <a:ext cx="9196388" cy="5084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="" xmlns:a16="http://schemas.microsoft.com/office/drawing/2014/main" id="{D17D795E-886B-4928-98FC-CBFA37F5F35D}"/>
              </a:ext>
            </a:extLst>
          </p:cNvPr>
          <p:cNvSpPr/>
          <p:nvPr/>
        </p:nvSpPr>
        <p:spPr>
          <a:xfrm>
            <a:off x="-15875" y="1800225"/>
            <a:ext cx="9159875" cy="5084763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solidFill>
                <a:schemeClr val="bg1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="" xmlns:a16="http://schemas.microsoft.com/office/drawing/2014/main" id="{414CE86E-3EC9-46FA-9D76-BB34ECF592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647700"/>
            <a:ext cx="4386262" cy="41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="" xmlns:a16="http://schemas.microsoft.com/office/drawing/2014/main" id="{80E43C32-3F74-4882-9319-1C6EF339B7C8}"/>
              </a:ext>
            </a:extLst>
          </p:cNvPr>
          <p:cNvSpPr/>
          <p:nvPr/>
        </p:nvSpPr>
        <p:spPr>
          <a:xfrm>
            <a:off x="-15875" y="2133600"/>
            <a:ext cx="146050" cy="24479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="" xmlns:a16="http://schemas.microsoft.com/office/drawing/2014/main" id="{E2707A1F-5255-4296-986A-B394FCFBBF89}"/>
              </a:ext>
            </a:extLst>
          </p:cNvPr>
          <p:cNvSpPr/>
          <p:nvPr/>
        </p:nvSpPr>
        <p:spPr>
          <a:xfrm>
            <a:off x="7380288" y="115888"/>
            <a:ext cx="1584325" cy="5762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67544" y="2130425"/>
            <a:ext cx="7990656" cy="2450703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467544" y="4725144"/>
            <a:ext cx="7304856" cy="913656"/>
          </a:xfrm>
        </p:spPr>
        <p:txBody>
          <a:bodyPr/>
          <a:lstStyle>
            <a:lvl1pPr marL="0" indent="0" algn="l">
              <a:buNone/>
              <a:defRPr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9" name="Номер слайда 5">
            <a:extLst>
              <a:ext uri="{FF2B5EF4-FFF2-40B4-BE49-F238E27FC236}">
                <a16:creationId xmlns="" xmlns:a16="http://schemas.microsoft.com/office/drawing/2014/main" id="{694EBD39-D313-4F99-9E2A-CF6297518C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00D74-4BCC-47BB-B128-8C4A14FED7C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  <p:sp>
        <p:nvSpPr>
          <p:cNvPr id="10" name="Дата 3">
            <a:extLst>
              <a:ext uri="{FF2B5EF4-FFF2-40B4-BE49-F238E27FC236}">
                <a16:creationId xmlns="" xmlns:a16="http://schemas.microsoft.com/office/drawing/2014/main" id="{9002E8E1-935F-41CF-A00F-7CECEF3C731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Нижний колонтитул 4">
            <a:extLst>
              <a:ext uri="{FF2B5EF4-FFF2-40B4-BE49-F238E27FC236}">
                <a16:creationId xmlns="" xmlns:a16="http://schemas.microsoft.com/office/drawing/2014/main" id="{BB05523D-BA13-4442-8DBB-EDC53BD3702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82046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path" presetSubtype="0" decel="4111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0 L 0.04688 0 " pathEditMode="relative" rAng="0" ptsTypes="AA">
                                      <p:cBhvr>
                                        <p:cTn id="6" dur="8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4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84213" y="654038"/>
            <a:ext cx="8002587" cy="796950"/>
          </a:xfrm>
        </p:spPr>
        <p:txBody>
          <a:bodyPr/>
          <a:lstStyle>
            <a:lvl1pPr>
              <a:defRPr sz="360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600"/>
              </a:spcBef>
              <a:buClr>
                <a:schemeClr val="tx2"/>
              </a:buClr>
              <a:defRPr>
                <a:solidFill>
                  <a:srgbClr val="002060"/>
                </a:solidFill>
              </a:defRPr>
            </a:lvl1pPr>
            <a:lvl2pPr>
              <a:spcBef>
                <a:spcPts val="600"/>
              </a:spcBef>
              <a:defRPr>
                <a:solidFill>
                  <a:srgbClr val="002060"/>
                </a:solidFill>
              </a:defRPr>
            </a:lvl2pPr>
            <a:lvl3pPr>
              <a:spcBef>
                <a:spcPts val="600"/>
              </a:spcBef>
              <a:defRPr>
                <a:solidFill>
                  <a:srgbClr val="002060"/>
                </a:solidFill>
              </a:defRPr>
            </a:lvl3pPr>
            <a:lvl4pPr>
              <a:spcBef>
                <a:spcPts val="600"/>
              </a:spcBef>
              <a:defRPr>
                <a:solidFill>
                  <a:srgbClr val="002060"/>
                </a:solidFill>
              </a:defRPr>
            </a:lvl4pPr>
            <a:lvl5pPr>
              <a:spcBef>
                <a:spcPts val="600"/>
              </a:spcBef>
              <a:defRPr>
                <a:solidFill>
                  <a:srgbClr val="002060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Номер слайда 5">
            <a:extLst>
              <a:ext uri="{FF2B5EF4-FFF2-40B4-BE49-F238E27FC236}">
                <a16:creationId xmlns="" xmlns:a16="http://schemas.microsoft.com/office/drawing/2014/main" id="{4BCF00E5-165D-49D5-899E-DBC34FDFAF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50825" y="6308725"/>
            <a:ext cx="442913" cy="261938"/>
          </a:xfrm>
        </p:spPr>
        <p:txBody>
          <a:bodyPr/>
          <a:lstStyle>
            <a:lvl1pPr algn="ctr">
              <a:defRPr sz="160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>
              <a:defRPr/>
            </a:pPr>
            <a:fld id="{94F2A1EA-F5C2-443C-9769-B807186FD15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0975759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D:\_DEN\_ПРОЕКТЫ\_МФПА\Университет СИНЕРГИЯ\презентации\Рисунок1.jpg">
            <a:extLst>
              <a:ext uri="{FF2B5EF4-FFF2-40B4-BE49-F238E27FC236}">
                <a16:creationId xmlns="" xmlns:a16="http://schemas.microsoft.com/office/drawing/2014/main" id="{D1A25D54-0797-4785-8A51-5290E8E23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150" cy="756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2F38F77D-48A0-4C8C-A2DC-FCB3F8AA50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238" y="1001713"/>
            <a:ext cx="2611437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ctr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Дата 3">
            <a:extLst>
              <a:ext uri="{FF2B5EF4-FFF2-40B4-BE49-F238E27FC236}">
                <a16:creationId xmlns="" xmlns:a16="http://schemas.microsoft.com/office/drawing/2014/main" id="{F20EAB15-D69A-4358-B126-1E4A7E4E9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="" xmlns:a16="http://schemas.microsoft.com/office/drawing/2014/main" id="{1A496F3C-31C1-407D-9686-370B4CF42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3EF1C9EA-171D-4CE5-B559-7E9FC401D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 b="1" smtClean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789FC806-2939-48AC-8427-6411BF22A59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72179225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ru-RU" sz="3600" kern="1200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35523795-12D4-497D-8EB1-B590E08CE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A66A9E87-BA71-4CAE-9A57-5E4B879E3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58DA3496-09B1-46CF-BE70-0C4A982E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52AB83-3E72-44FB-9C2B-ADF3D55DE11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42074059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="" xmlns:a16="http://schemas.microsoft.com/office/drawing/2014/main" id="{493FBEAF-F1A0-4D02-B9B4-5D4D7A485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="" xmlns:a16="http://schemas.microsoft.com/office/drawing/2014/main" id="{8B4FA878-F727-47A8-A9E4-A6E911BB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="" xmlns:a16="http://schemas.microsoft.com/office/drawing/2014/main" id="{90E7BBFE-9386-45C3-B349-173F5F848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E2B09D-51EA-4FCD-9571-565168968224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89902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3600" kern="1200" dirty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A44394D6-B567-4EC2-987B-A0ED6A00E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3593EAE4-6CB5-4927-B2C0-3382C693E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D9A7FBFD-04E7-486E-9C82-91C08D942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42D845-2A7F-4B79-A00C-3875C0D3592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5990961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="" xmlns:a16="http://schemas.microsoft.com/office/drawing/2014/main" id="{713F8766-6DD6-466E-8320-68E48811D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="" xmlns:a16="http://schemas.microsoft.com/office/drawing/2014/main" id="{09E20138-3152-4BE4-BB60-436C74277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317BED9E-6CE3-4327-8354-CDBC46534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D5B6F-90D1-4A9E-A125-38D1C64211E2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345549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1A2762BC-AD94-4A02-A809-C7849872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7F5E6BAF-EF67-4C31-B692-9BB6294EE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FF47E919-6DC7-48A9-92A9-CB8FACC0F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88748-973E-48A5-A0DE-9EA85E57734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8651615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ru-RU" noProof="0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="" xmlns:a16="http://schemas.microsoft.com/office/drawing/2014/main" id="{7A8149E9-139A-4AB9-B618-5735CC13C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="" xmlns:a16="http://schemas.microsoft.com/office/drawing/2014/main" id="{B15AE2E1-072F-4561-A971-FF759EDF5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="" xmlns:a16="http://schemas.microsoft.com/office/drawing/2014/main" id="{841BB877-7D0D-4823-A108-7759C77A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B637B9-BB3D-4DFF-A11B-EAE57DD6089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948294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894F73BC-C5FE-41E5-90B7-A43BB5CC9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A20F9802-27C2-48D5-B09B-8AF8780BF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CF433DFA-3A43-4B25-80DA-4E434ACEA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11F5A5-ED98-44DC-A0E1-ABFC7590862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8287726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659B8E0B-6EED-4A74-8ED4-C584E39FC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60D97674-D5A3-4DFD-A1A7-B51532406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="" xmlns:a16="http://schemas.microsoft.com/office/drawing/2014/main" id="{E9D281BF-86AA-4F95-87CF-EA139422F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88350" y="6492875"/>
            <a:ext cx="4429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572058-23A6-4A62-B417-F572DA873AD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2170690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="" xmlns:a16="http://schemas.microsoft.com/office/drawing/2014/main" id="{9D8325B7-3358-43CF-B7DF-EFBA3C74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84188"/>
            <a:ext cx="7940675" cy="89693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0"/>
            <a:r>
              <a:rPr lang="ru-RU" dirty="0"/>
              <a:t>Образец заголовка</a:t>
            </a:r>
          </a:p>
        </p:txBody>
      </p:sp>
      <p:sp>
        <p:nvSpPr>
          <p:cNvPr id="1027" name="Текст 2">
            <a:extLst>
              <a:ext uri="{FF2B5EF4-FFF2-40B4-BE49-F238E27FC236}">
                <a16:creationId xmlns="" xmlns:a16="http://schemas.microsoft.com/office/drawing/2014/main" id="{7BF6E5AE-4142-4FE2-B86C-8D11A5B47E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628775"/>
            <a:ext cx="80137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altLang="ru-RU"/>
              <a:t>Образец текста</a:t>
            </a:r>
          </a:p>
          <a:p>
            <a:pPr lvl="1"/>
            <a:r>
              <a:rPr lang="ru-RU" altLang="ru-RU"/>
              <a:t>Второй уровень</a:t>
            </a:r>
          </a:p>
          <a:p>
            <a:pPr lvl="2"/>
            <a:r>
              <a:rPr lang="ru-RU" altLang="ru-RU"/>
              <a:t>Третий уровень</a:t>
            </a:r>
          </a:p>
          <a:p>
            <a:pPr lvl="3"/>
            <a:r>
              <a:rPr lang="ru-RU" altLang="ru-RU"/>
              <a:t>Четвертый уровень</a:t>
            </a:r>
          </a:p>
          <a:p>
            <a:pPr lvl="4"/>
            <a:r>
              <a:rPr lang="ru-RU" alt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622796D3-C5AB-47D9-ACF8-8680A5B93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60738" y="61547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="" xmlns:a16="http://schemas.microsoft.com/office/drawing/2014/main" id="{85FCB1F7-7002-4888-B820-044E9AFF5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8975" y="6183313"/>
            <a:ext cx="25923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Номер слайда 5">
            <a:extLst>
              <a:ext uri="{FF2B5EF4-FFF2-40B4-BE49-F238E27FC236}">
                <a16:creationId xmlns="" xmlns:a16="http://schemas.microsoft.com/office/drawing/2014/main" id="{66BA8664-1526-42E3-BC46-E6516883A8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4925" y="6381750"/>
            <a:ext cx="442913" cy="260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1CF828C9-A85B-4DFA-AD91-BAB06C6D022E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9" name="Прямоугольный треугольник 8">
            <a:extLst>
              <a:ext uri="{FF2B5EF4-FFF2-40B4-BE49-F238E27FC236}">
                <a16:creationId xmlns="" xmlns:a16="http://schemas.microsoft.com/office/drawing/2014/main" id="{65463543-DFC5-4542-A7DA-5627B8DA5065}"/>
              </a:ext>
            </a:extLst>
          </p:cNvPr>
          <p:cNvSpPr/>
          <p:nvPr/>
        </p:nvSpPr>
        <p:spPr>
          <a:xfrm rot="5400000">
            <a:off x="8027195" y="6403181"/>
            <a:ext cx="290512" cy="288925"/>
          </a:xfrm>
          <a:prstGeom prst="rt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  <p:cxnSp>
        <p:nvCxnSpPr>
          <p:cNvPr id="10" name="Прямая соединительная линия 9">
            <a:extLst>
              <a:ext uri="{FF2B5EF4-FFF2-40B4-BE49-F238E27FC236}">
                <a16:creationId xmlns="" xmlns:a16="http://schemas.microsoft.com/office/drawing/2014/main" id="{E69F0F13-AFB2-4D37-89BE-6A7DF410207A}"/>
              </a:ext>
            </a:extLst>
          </p:cNvPr>
          <p:cNvCxnSpPr/>
          <p:nvPr/>
        </p:nvCxnSpPr>
        <p:spPr>
          <a:xfrm flipH="1">
            <a:off x="9213850" y="557213"/>
            <a:ext cx="1008063" cy="0"/>
          </a:xfrm>
          <a:prstGeom prst="line">
            <a:avLst/>
          </a:prstGeom>
          <a:ln w="127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>
            <a:extLst>
              <a:ext uri="{FF2B5EF4-FFF2-40B4-BE49-F238E27FC236}">
                <a16:creationId xmlns="" xmlns:a16="http://schemas.microsoft.com/office/drawing/2014/main" id="{7FBE710D-4CE2-4FBC-A15D-C9131BBF0261}"/>
              </a:ext>
            </a:extLst>
          </p:cNvPr>
          <p:cNvCxnSpPr/>
          <p:nvPr/>
        </p:nvCxnSpPr>
        <p:spPr>
          <a:xfrm flipH="1">
            <a:off x="9213850" y="773113"/>
            <a:ext cx="1008063" cy="0"/>
          </a:xfrm>
          <a:prstGeom prst="line">
            <a:avLst/>
          </a:prstGeom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>
            <a:extLst>
              <a:ext uri="{FF2B5EF4-FFF2-40B4-BE49-F238E27FC236}">
                <a16:creationId xmlns="" xmlns:a16="http://schemas.microsoft.com/office/drawing/2014/main" id="{E00C54FF-28EB-4117-8B80-D404C1F4EA69}"/>
              </a:ext>
            </a:extLst>
          </p:cNvPr>
          <p:cNvCxnSpPr/>
          <p:nvPr/>
        </p:nvCxnSpPr>
        <p:spPr>
          <a:xfrm flipH="1">
            <a:off x="9213850" y="1419225"/>
            <a:ext cx="1008063" cy="0"/>
          </a:xfrm>
          <a:prstGeom prst="line">
            <a:avLst/>
          </a:prstGeom>
          <a:ln w="12700">
            <a:solidFill>
              <a:srgbClr val="00B05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="" xmlns:a16="http://schemas.microsoft.com/office/drawing/2014/main" id="{E41C3475-55C1-453D-8A25-4198294F09D5}"/>
              </a:ext>
            </a:extLst>
          </p:cNvPr>
          <p:cNvCxnSpPr/>
          <p:nvPr/>
        </p:nvCxnSpPr>
        <p:spPr>
          <a:xfrm flipH="1">
            <a:off x="9213850" y="1189038"/>
            <a:ext cx="1008063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6" name="TextBox 13">
            <a:extLst>
              <a:ext uri="{FF2B5EF4-FFF2-40B4-BE49-F238E27FC236}">
                <a16:creationId xmlns="" xmlns:a16="http://schemas.microsoft.com/office/drawing/2014/main" id="{FE6A78E1-6AD9-4D0E-8072-85C645C7E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75" y="157163"/>
            <a:ext cx="1152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62AC"/>
                </a:solidFill>
              </a:rPr>
              <a:t>Уровень красной полоски при однострочном названии</a:t>
            </a:r>
          </a:p>
        </p:txBody>
      </p:sp>
      <p:sp>
        <p:nvSpPr>
          <p:cNvPr id="1037" name="TextBox 14">
            <a:extLst>
              <a:ext uri="{FF2B5EF4-FFF2-40B4-BE49-F238E27FC236}">
                <a16:creationId xmlns="" xmlns:a16="http://schemas.microsoft.com/office/drawing/2014/main" id="{619AABDB-9CB2-4E00-9854-58F8094A13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5288" y="739775"/>
            <a:ext cx="1152525" cy="4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823B"/>
                </a:solidFill>
              </a:rPr>
              <a:t>Уровень красной полоски при двустрочном  названии</a:t>
            </a:r>
          </a:p>
        </p:txBody>
      </p:sp>
      <p:sp>
        <p:nvSpPr>
          <p:cNvPr id="1038" name="TextBox 15">
            <a:extLst>
              <a:ext uri="{FF2B5EF4-FFF2-40B4-BE49-F238E27FC236}">
                <a16:creationId xmlns="" xmlns:a16="http://schemas.microsoft.com/office/drawing/2014/main" id="{E7702E6C-DDDA-4D17-828B-19F0BAA28C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1950" y="1193800"/>
            <a:ext cx="11525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62AC"/>
                </a:solidFill>
              </a:rPr>
              <a:t>Уровни заголовков</a:t>
            </a:r>
          </a:p>
        </p:txBody>
      </p:sp>
      <p:sp>
        <p:nvSpPr>
          <p:cNvPr id="1039" name="TextBox 16">
            <a:extLst>
              <a:ext uri="{FF2B5EF4-FFF2-40B4-BE49-F238E27FC236}">
                <a16:creationId xmlns="" xmlns:a16="http://schemas.microsoft.com/office/drawing/2014/main" id="{D5FC2CAC-14FE-45B1-AD1E-4E0C5EA8C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75" y="1476375"/>
            <a:ext cx="11525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823B"/>
                </a:solidFill>
              </a:rPr>
              <a:t>Уровни заголовков</a:t>
            </a:r>
          </a:p>
        </p:txBody>
      </p:sp>
      <p:cxnSp>
        <p:nvCxnSpPr>
          <p:cNvPr id="19" name="Прямая со стрелкой 18">
            <a:extLst>
              <a:ext uri="{FF2B5EF4-FFF2-40B4-BE49-F238E27FC236}">
                <a16:creationId xmlns="" xmlns:a16="http://schemas.microsoft.com/office/drawing/2014/main" id="{A8A8BCAF-A531-4FD5-975C-FC26990FFD32}"/>
              </a:ext>
            </a:extLst>
          </p:cNvPr>
          <p:cNvCxnSpPr/>
          <p:nvPr/>
        </p:nvCxnSpPr>
        <p:spPr>
          <a:xfrm flipV="1">
            <a:off x="10150475" y="773113"/>
            <a:ext cx="0" cy="174625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="" xmlns:a16="http://schemas.microsoft.com/office/drawing/2014/main" id="{F9A8AF2E-0080-4F3E-AFFB-582FD5DA1356}"/>
              </a:ext>
            </a:extLst>
          </p:cNvPr>
          <p:cNvCxnSpPr/>
          <p:nvPr/>
        </p:nvCxnSpPr>
        <p:spPr>
          <a:xfrm flipV="1">
            <a:off x="10221913" y="1401763"/>
            <a:ext cx="0" cy="174625"/>
          </a:xfrm>
          <a:prstGeom prst="straightConnector1">
            <a:avLst/>
          </a:prstGeom>
          <a:ln w="190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="" xmlns:a16="http://schemas.microsoft.com/office/drawing/2014/main" id="{F86A1245-55EC-4A8A-B5D5-CB5772552CF7}"/>
              </a:ext>
            </a:extLst>
          </p:cNvPr>
          <p:cNvCxnSpPr>
            <a:stCxn id="1036" idx="1"/>
          </p:cNvCxnSpPr>
          <p:nvPr/>
        </p:nvCxnSpPr>
        <p:spPr>
          <a:xfrm>
            <a:off x="9286875" y="365125"/>
            <a:ext cx="0" cy="207963"/>
          </a:xfrm>
          <a:prstGeom prst="straightConnector1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="" xmlns:a16="http://schemas.microsoft.com/office/drawing/2014/main" id="{5C7B504E-4D7D-4295-BC56-B1CAC556568F}"/>
              </a:ext>
            </a:extLst>
          </p:cNvPr>
          <p:cNvCxnSpPr/>
          <p:nvPr/>
        </p:nvCxnSpPr>
        <p:spPr>
          <a:xfrm flipV="1">
            <a:off x="9290050" y="1193800"/>
            <a:ext cx="0" cy="219075"/>
          </a:xfrm>
          <a:prstGeom prst="straightConnector1">
            <a:avLst/>
          </a:prstGeom>
          <a:ln w="190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 стрелкой 27">
            <a:extLst>
              <a:ext uri="{FF2B5EF4-FFF2-40B4-BE49-F238E27FC236}">
                <a16:creationId xmlns="" xmlns:a16="http://schemas.microsoft.com/office/drawing/2014/main" id="{62DEE6A6-04F7-4655-86FA-A5760A81974A}"/>
              </a:ext>
            </a:extLst>
          </p:cNvPr>
          <p:cNvCxnSpPr/>
          <p:nvPr/>
        </p:nvCxnSpPr>
        <p:spPr>
          <a:xfrm>
            <a:off x="107950" y="-100013"/>
            <a:ext cx="576263" cy="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="" xmlns:a16="http://schemas.microsoft.com/office/drawing/2014/main" id="{581B6598-4132-462B-B060-E102B48D40E1}"/>
              </a:ext>
            </a:extLst>
          </p:cNvPr>
          <p:cNvCxnSpPr/>
          <p:nvPr/>
        </p:nvCxnSpPr>
        <p:spPr>
          <a:xfrm flipV="1">
            <a:off x="684213" y="-387350"/>
            <a:ext cx="0" cy="315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6" name="TextBox 30">
            <a:extLst>
              <a:ext uri="{FF2B5EF4-FFF2-40B4-BE49-F238E27FC236}">
                <a16:creationId xmlns="" xmlns:a16="http://schemas.microsoft.com/office/drawing/2014/main" id="{BA62B20B-9F56-4EC6-90F6-1F8B19D892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496888" y="-279400"/>
            <a:ext cx="1152526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62AC"/>
                </a:solidFill>
              </a:rPr>
              <a:t>ПОЛЯ. Уровень текста</a:t>
            </a:r>
          </a:p>
        </p:txBody>
      </p:sp>
      <p:cxnSp>
        <p:nvCxnSpPr>
          <p:cNvPr id="32" name="Прямая со стрелкой 31">
            <a:extLst>
              <a:ext uri="{FF2B5EF4-FFF2-40B4-BE49-F238E27FC236}">
                <a16:creationId xmlns="" xmlns:a16="http://schemas.microsoft.com/office/drawing/2014/main" id="{E4510BE6-14D7-4BE8-9C7C-5F651B2EA1CE}"/>
              </a:ext>
            </a:extLst>
          </p:cNvPr>
          <p:cNvCxnSpPr/>
          <p:nvPr/>
        </p:nvCxnSpPr>
        <p:spPr>
          <a:xfrm flipH="1">
            <a:off x="8710613" y="-100013"/>
            <a:ext cx="503237" cy="0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="" xmlns:a16="http://schemas.microsoft.com/office/drawing/2014/main" id="{B7B518A1-5F23-4338-8FB2-560DFC3FC59B}"/>
              </a:ext>
            </a:extLst>
          </p:cNvPr>
          <p:cNvCxnSpPr/>
          <p:nvPr/>
        </p:nvCxnSpPr>
        <p:spPr>
          <a:xfrm flipV="1">
            <a:off x="8710613" y="-387350"/>
            <a:ext cx="0" cy="315912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TextBox 33">
            <a:extLst>
              <a:ext uri="{FF2B5EF4-FFF2-40B4-BE49-F238E27FC236}">
                <a16:creationId xmlns="" xmlns:a16="http://schemas.microsoft.com/office/drawing/2014/main" id="{9F302D5E-67F1-4EFD-B77B-E2F7619A5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93175" y="-330200"/>
            <a:ext cx="1150938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/>
            <a:r>
              <a:rPr lang="ru-RU" altLang="ru-RU" sz="700">
                <a:solidFill>
                  <a:srgbClr val="0062AC"/>
                </a:solidFill>
              </a:rPr>
              <a:t>ПОЛЯ. </a:t>
            </a:r>
          </a:p>
        </p:txBody>
      </p:sp>
      <p:pic>
        <p:nvPicPr>
          <p:cNvPr id="1050" name="Picture 3">
            <a:extLst>
              <a:ext uri="{FF2B5EF4-FFF2-40B4-BE49-F238E27FC236}">
                <a16:creationId xmlns="" xmlns:a16="http://schemas.microsoft.com/office/drawing/2014/main" id="{579478AB-72BD-4887-BC0F-4B090EEBF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1575" y="266700"/>
            <a:ext cx="1300163" cy="239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1" name="Рисунок 28">
            <a:extLst>
              <a:ext uri="{FF2B5EF4-FFF2-40B4-BE49-F238E27FC236}">
                <a16:creationId xmlns="" xmlns:a16="http://schemas.microsoft.com/office/drawing/2014/main" id="{3D032CE2-4CB2-4498-BAAE-6B2AF559D2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02525" y="5951538"/>
            <a:ext cx="1628775" cy="900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</p:sldLayoutIdLst>
  <p:transition spd="med">
    <p:fade/>
  </p:transition>
  <p:hf hdr="0" ftr="0" dt="0"/>
  <p:txStyles>
    <p:titleStyle>
      <a:lvl1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lang="ru-RU" sz="3600" kern="1200" dirty="0">
          <a:solidFill>
            <a:srgbClr val="10253F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 Black" panose="020B0A04020102020204" pitchFamily="34" charset="0"/>
          <a:ea typeface="+mj-ea"/>
          <a:cs typeface="+mj-cs"/>
        </a:defRPr>
      </a:lvl1pPr>
      <a:lvl2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2pPr>
      <a:lvl3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3pPr>
      <a:lvl4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4pPr>
      <a:lvl5pPr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5pPr>
      <a:lvl6pPr marL="4572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6pPr>
      <a:lvl7pPr marL="9144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7pPr>
      <a:lvl8pPr marL="13716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8pPr>
      <a:lvl9pPr marL="1828800" algn="ctr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>
          <a:solidFill>
            <a:srgbClr val="10253F"/>
          </a:solidFill>
          <a:latin typeface="Arial Black" panose="020B0A040201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DE0000"/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DE0000"/>
        </a:buClr>
        <a:buFont typeface="Arial" panose="020B0604020202020204" pitchFamily="34" charset="0"/>
        <a:buChar char="–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DE0000"/>
        </a:buClr>
        <a:buFont typeface="Arial" panose="020B0604020202020204" pitchFamily="34" charset="0"/>
        <a:buChar char="•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DE0000"/>
        </a:buClr>
        <a:buFont typeface="Arial" panose="020B0604020202020204" pitchFamily="34" charset="0"/>
        <a:buChar char="–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DE0000"/>
        </a:buClr>
        <a:buFont typeface="Arial" panose="020B0604020202020204" pitchFamily="34" charset="0"/>
        <a:buChar char="»"/>
        <a:defRPr sz="2000" kern="1200">
          <a:solidFill>
            <a:srgbClr val="002060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="" xmlns:a16="http://schemas.microsoft.com/office/drawing/2014/main" id="{D1FECB8D-245F-4BC5-A793-94529428395A}"/>
              </a:ext>
            </a:extLst>
          </p:cNvPr>
          <p:cNvSpPr>
            <a:spLocks noGrp="1"/>
          </p:cNvSpPr>
          <p:nvPr>
            <p:ph type="dt" sz="quarter" idx="11"/>
          </p:nvPr>
        </p:nvSpPr>
        <p:spPr>
          <a:xfrm>
            <a:off x="2916238" y="6397625"/>
            <a:ext cx="3141662" cy="365125"/>
          </a:xfrm>
        </p:spPr>
        <p:txBody>
          <a:bodyPr/>
          <a:lstStyle/>
          <a:p>
            <a:pPr>
              <a:defRPr/>
            </a:pPr>
            <a:fld id="{EB2AE45C-56D5-4918-910B-9C7F047B45B2}" type="datetime4">
              <a:rPr lang="ru-RU" sz="160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pPr>
                <a:defRPr/>
              </a:pPr>
              <a:t>6 сентября 2025 г.</a:t>
            </a:fld>
            <a:endParaRPr lang="ru-RU" sz="16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95536" y="1916832"/>
            <a:ext cx="864096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6000" dirty="0" smtClean="0">
                <a:solidFill>
                  <a:schemeClr val="bg1"/>
                </a:solidFill>
              </a:rPr>
              <a:t>Разработка кода информационных систем</a:t>
            </a:r>
            <a:endParaRPr lang="ru-RU" sz="6000" dirty="0">
              <a:solidFill>
                <a:schemeClr val="bg1"/>
              </a:solidFill>
            </a:endParaRPr>
          </a:p>
        </p:txBody>
      </p:sp>
      <p:sp>
        <p:nvSpPr>
          <p:cNvPr id="6" name="Подзаголовок 2">
            <a:extLst>
              <a:ext uri="{FF2B5EF4-FFF2-40B4-BE49-F238E27FC236}">
                <a16:creationId xmlns="" xmlns:a16="http://schemas.microsoft.com/office/drawing/2014/main" id="{480A8BA4-E546-4842-8937-15AB887A6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9592" y="4797151"/>
            <a:ext cx="7772400" cy="1600473"/>
          </a:xfrm>
        </p:spPr>
        <p:txBody>
          <a:bodyPr rtlCol="0">
            <a:no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sz="1800" dirty="0"/>
              <a:t> 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1800"/>
              <a:t>Лабораторное </a:t>
            </a:r>
            <a:r>
              <a:rPr lang="ru-RU" sz="1800"/>
              <a:t>занятие </a:t>
            </a:r>
            <a:r>
              <a:rPr lang="ru-RU" sz="1800" smtClean="0"/>
              <a:t>№2</a:t>
            </a:r>
            <a:r>
              <a:rPr lang="ru-RU" sz="1800" dirty="0"/>
              <a:t>									Кафедра цифровой экономики</a:t>
            </a:r>
          </a:p>
          <a:p>
            <a:pPr fontAlgn="auto">
              <a:spcAft>
                <a:spcPts val="0"/>
              </a:spcAft>
              <a:defRPr/>
            </a:pPr>
            <a:r>
              <a:rPr lang="ru-RU" sz="1800" dirty="0"/>
              <a:t>				</a:t>
            </a:r>
            <a:r>
              <a:rPr lang="ru-RU" sz="1800" dirty="0" smtClean="0"/>
              <a:t>Зайцев Алексей Иванович, </a:t>
            </a:r>
            <a:r>
              <a:rPr lang="ru-RU" sz="1800" dirty="0"/>
              <a:t>				</a:t>
            </a:r>
            <a:r>
              <a:rPr lang="ru-RU" sz="1800" dirty="0" smtClean="0"/>
              <a:t>	к.т.н., доцент.</a:t>
            </a: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61196907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Объект 1">
            <a:extLst>
              <a:ext uri="{FF2B5EF4-FFF2-40B4-BE49-F238E27FC236}">
                <a16:creationId xmlns="" xmlns:a16="http://schemas.microsoft.com/office/drawing/2014/main" id="{BD2DFFD9-DF4C-473E-A359-1560D856B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8" indent="0" algn="ctr">
              <a:buNone/>
            </a:pPr>
            <a:r>
              <a:rPr lang="ru-RU" altLang="ru-RU" sz="2800" dirty="0"/>
              <a:t>Получить </a:t>
            </a:r>
            <a:r>
              <a:rPr lang="ru-RU" sz="2800" dirty="0"/>
              <a:t>навыки </a:t>
            </a:r>
            <a:r>
              <a:rPr lang="ru-RU" sz="2800" dirty="0" smtClean="0"/>
              <a:t>построения и отладки программ и алгоритмов для </a:t>
            </a:r>
            <a:r>
              <a:rPr lang="ru-RU" sz="2800" dirty="0"/>
              <a:t>обработки числовых </a:t>
            </a:r>
            <a:r>
              <a:rPr lang="ru-RU" sz="2800" dirty="0" smtClean="0"/>
              <a:t>данных </a:t>
            </a:r>
            <a:r>
              <a:rPr lang="ru-RU" sz="2800" dirty="0"/>
              <a:t>на языке </a:t>
            </a:r>
            <a:r>
              <a:rPr lang="en-US" sz="2800"/>
              <a:t>C</a:t>
            </a:r>
            <a:r>
              <a:rPr lang="en-US" sz="2800" smtClean="0"/>
              <a:t>#</a:t>
            </a:r>
            <a:r>
              <a:rPr lang="ru-RU" sz="2800" smtClean="0"/>
              <a:t>.</a:t>
            </a:r>
            <a:endParaRPr lang="ru-RU" altLang="ru-RU" sz="2800" dirty="0"/>
          </a:p>
        </p:txBody>
      </p:sp>
      <p:sp>
        <p:nvSpPr>
          <p:cNvPr id="16387" name="Заголовок 2">
            <a:extLst>
              <a:ext uri="{FF2B5EF4-FFF2-40B4-BE49-F238E27FC236}">
                <a16:creationId xmlns="" xmlns:a16="http://schemas.microsoft.com/office/drawing/2014/main" id="{01FB6E59-1DF6-42EF-A120-002AA2454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654050"/>
            <a:ext cx="8002587" cy="7969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altLang="ru-RU" dirty="0">
                <a:solidFill>
                  <a:srgbClr val="10253F"/>
                </a:solidFill>
                <a:effectLst/>
              </a:rPr>
              <a:t>Тема занятия: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D76F0866-CE92-4454-9164-81EF20944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5CAAF8-AB36-49D4-8FA3-B053442B32F7}" type="slidenum">
              <a:rPr lang="ru-RU"/>
              <a:pPr>
                <a:defRPr/>
              </a:pPr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71686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Объект 1">
            <a:extLst>
              <a:ext uri="{FF2B5EF4-FFF2-40B4-BE49-F238E27FC236}">
                <a16:creationId xmlns="" xmlns:a16="http://schemas.microsoft.com/office/drawing/2014/main" id="{BD2DFFD9-DF4C-473E-A359-1560D856B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8" indent="0" algn="ctr">
              <a:buNone/>
            </a:pPr>
            <a:r>
              <a:rPr lang="ru-RU" altLang="ru-RU" sz="3200" dirty="0" smtClean="0"/>
              <a:t>Написать в редакторе, скомпилировать </a:t>
            </a:r>
            <a:r>
              <a:rPr lang="ru-RU" altLang="ru-RU" sz="3200" dirty="0"/>
              <a:t>и отладить </a:t>
            </a:r>
            <a:r>
              <a:rPr lang="ru-RU" altLang="ru-RU" sz="3200" dirty="0" smtClean="0"/>
              <a:t>программу – математический калькулятор.</a:t>
            </a:r>
            <a:endParaRPr lang="ru-RU" altLang="ru-RU" sz="3200" dirty="0"/>
          </a:p>
        </p:txBody>
      </p:sp>
      <p:sp>
        <p:nvSpPr>
          <p:cNvPr id="16387" name="Заголовок 2">
            <a:extLst>
              <a:ext uri="{FF2B5EF4-FFF2-40B4-BE49-F238E27FC236}">
                <a16:creationId xmlns="" xmlns:a16="http://schemas.microsoft.com/office/drawing/2014/main" id="{01FB6E59-1DF6-42EF-A120-002AA2454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654050"/>
            <a:ext cx="8002587" cy="7969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altLang="ru-RU" dirty="0" smtClean="0">
                <a:solidFill>
                  <a:srgbClr val="10253F"/>
                </a:solidFill>
                <a:effectLst/>
              </a:rPr>
              <a:t>Задание: </a:t>
            </a:r>
            <a:endParaRPr altLang="ru-RU" dirty="0">
              <a:solidFill>
                <a:srgbClr val="10253F"/>
              </a:solidFill>
              <a:effectLst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D76F0866-CE92-4454-9164-81EF20944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5CAAF8-AB36-49D4-8FA3-B053442B32F7}" type="slidenum">
              <a:rPr lang="ru-RU"/>
              <a:pPr>
                <a:defRPr/>
              </a:pPr>
              <a:t>3</a:t>
            </a:fld>
            <a:endParaRPr lang="ru-RU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Объект 1">
            <a:extLst>
              <a:ext uri="{FF2B5EF4-FFF2-40B4-BE49-F238E27FC236}">
                <a16:creationId xmlns="" xmlns:a16="http://schemas.microsoft.com/office/drawing/2014/main" id="{BD2DFFD9-DF4C-473E-A359-1560D856B7B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09538" indent="0" algn="ctr">
              <a:buNone/>
            </a:pPr>
            <a:r>
              <a:rPr lang="ru-RU" altLang="ru-RU" sz="1800" dirty="0" smtClean="0"/>
              <a:t>Баллы и уровни реализации</a:t>
            </a:r>
          </a:p>
          <a:p>
            <a:pPr marL="109538" indent="0">
              <a:buNone/>
            </a:pPr>
            <a:r>
              <a:rPr lang="ru-RU" altLang="ru-RU" sz="1800" b="1" dirty="0"/>
              <a:t>1 уровень. </a:t>
            </a:r>
            <a:r>
              <a:rPr lang="ru-RU" altLang="ru-RU" sz="1800" b="1" dirty="0" smtClean="0"/>
              <a:t>2 балла</a:t>
            </a:r>
            <a:r>
              <a:rPr lang="ru-RU" altLang="ru-RU" sz="1800" dirty="0" smtClean="0"/>
              <a:t>. Калькулятор содержит кнопки цифр, и основных математических действий –  «+», «-», «*», «/»,. При нажатии на кнопки происходят соответствующие действия, и выводится результат.</a:t>
            </a:r>
          </a:p>
          <a:p>
            <a:pPr marL="109538" indent="0">
              <a:buNone/>
            </a:pPr>
            <a:r>
              <a:rPr lang="ru-RU" altLang="ru-RU" sz="1800" b="1" dirty="0" smtClean="0"/>
              <a:t>2 </a:t>
            </a:r>
            <a:r>
              <a:rPr lang="ru-RU" altLang="ru-RU" sz="1800" b="1" dirty="0"/>
              <a:t>уровень. </a:t>
            </a:r>
            <a:r>
              <a:rPr lang="ru-RU" altLang="ru-RU" sz="1800" b="1" dirty="0" smtClean="0"/>
              <a:t>4 балла</a:t>
            </a:r>
            <a:r>
              <a:rPr lang="ru-RU" altLang="ru-RU" sz="1800" dirty="0" smtClean="0"/>
              <a:t>. Добавлены действия соответствующие инженерному калькулятору – вычисление корней </a:t>
            </a:r>
            <a:r>
              <a:rPr lang="ru-RU" altLang="ru-RU" sz="1800" smtClean="0"/>
              <a:t>и степеней, </a:t>
            </a:r>
            <a:r>
              <a:rPr lang="ru-RU" altLang="ru-RU" sz="1800" dirty="0" smtClean="0"/>
              <a:t>обратных значений, тригонометрические функции, и т.п.</a:t>
            </a:r>
          </a:p>
          <a:p>
            <a:pPr marL="109538" indent="0">
              <a:buNone/>
            </a:pPr>
            <a:r>
              <a:rPr lang="ru-RU" altLang="ru-RU" sz="1800" b="1" dirty="0" smtClean="0"/>
              <a:t>3 </a:t>
            </a:r>
            <a:r>
              <a:rPr lang="ru-RU" altLang="ru-RU" sz="1800" b="1" dirty="0"/>
              <a:t>уровень. </a:t>
            </a:r>
            <a:r>
              <a:rPr lang="ru-RU" altLang="ru-RU" sz="1800" b="1" dirty="0" smtClean="0"/>
              <a:t>6 баллов</a:t>
            </a:r>
            <a:r>
              <a:rPr lang="ru-RU" altLang="ru-RU" sz="1800" dirty="0" smtClean="0"/>
              <a:t>. Корректно обрабатывает </a:t>
            </a:r>
            <a:r>
              <a:rPr lang="ru-RU" altLang="ru-RU" sz="1800" b="1" i="1" dirty="0" smtClean="0"/>
              <a:t>все</a:t>
            </a:r>
            <a:r>
              <a:rPr lang="ru-RU" altLang="ru-RU" sz="1800" dirty="0" smtClean="0"/>
              <a:t> исключительные ситуации, выводит в виде текстовой надписи действия с аргументами и результата вычисления.</a:t>
            </a:r>
          </a:p>
          <a:p>
            <a:pPr marL="109538" indent="0">
              <a:buNone/>
            </a:pPr>
            <a:r>
              <a:rPr lang="ru-RU" altLang="ru-RU" sz="1800" b="1" dirty="0" smtClean="0"/>
              <a:t>4 </a:t>
            </a:r>
            <a:r>
              <a:rPr lang="ru-RU" altLang="ru-RU" sz="1800" b="1" dirty="0"/>
              <a:t>уровень. </a:t>
            </a:r>
            <a:r>
              <a:rPr lang="ru-RU" altLang="ru-RU" sz="1800" b="1" dirty="0" smtClean="0"/>
              <a:t>8 </a:t>
            </a:r>
            <a:r>
              <a:rPr lang="ru-RU" altLang="ru-RU" sz="1800" b="1" dirty="0"/>
              <a:t>баллов</a:t>
            </a:r>
            <a:r>
              <a:rPr lang="ru-RU" altLang="ru-RU" sz="1800" dirty="0" smtClean="0"/>
              <a:t>. Присутствует возможность производить математические операции в двоичной, восьмеричной и шестнадцатеричной системах счисления.</a:t>
            </a:r>
          </a:p>
          <a:p>
            <a:pPr marL="109538" indent="0">
              <a:buNone/>
            </a:pPr>
            <a:endParaRPr lang="ru-RU" altLang="ru-RU" sz="1800" dirty="0"/>
          </a:p>
          <a:p>
            <a:pPr marL="109538" indent="0">
              <a:buNone/>
            </a:pPr>
            <a:r>
              <a:rPr lang="ru-RU" altLang="ru-RU" sz="1800" dirty="0" smtClean="0"/>
              <a:t>Каждый уровень включает решение предыдущего уровня.</a:t>
            </a:r>
            <a:endParaRPr lang="ru-RU" altLang="ru-RU" sz="1800" dirty="0"/>
          </a:p>
          <a:p>
            <a:pPr marL="109538" indent="0">
              <a:buNone/>
            </a:pPr>
            <a:endParaRPr lang="ru-RU" altLang="ru-RU" sz="1800" dirty="0"/>
          </a:p>
        </p:txBody>
      </p:sp>
      <p:sp>
        <p:nvSpPr>
          <p:cNvPr id="16387" name="Заголовок 2">
            <a:extLst>
              <a:ext uri="{FF2B5EF4-FFF2-40B4-BE49-F238E27FC236}">
                <a16:creationId xmlns="" xmlns:a16="http://schemas.microsoft.com/office/drawing/2014/main" id="{01FB6E59-1DF6-42EF-A120-002AA2454E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4213" y="654050"/>
            <a:ext cx="8002587" cy="796925"/>
          </a:xfrm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altLang="ru-RU" dirty="0" smtClean="0">
                <a:solidFill>
                  <a:srgbClr val="10253F"/>
                </a:solidFill>
                <a:effectLst/>
              </a:rPr>
              <a:t>Задание: </a:t>
            </a:r>
            <a:endParaRPr altLang="ru-RU" dirty="0">
              <a:solidFill>
                <a:srgbClr val="10253F"/>
              </a:solidFill>
              <a:effectLst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="" xmlns:a16="http://schemas.microsoft.com/office/drawing/2014/main" id="{D76F0866-CE92-4454-9164-81EF20944D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45CAAF8-AB36-49D4-8FA3-B053442B32F7}" type="slidenum">
              <a:rPr lang="ru-RU"/>
              <a:pPr>
                <a:defRPr/>
              </a:pPr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204712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1. Запустить приложение среды разработки программ </a:t>
            </a:r>
            <a:r>
              <a:rPr lang="en-US" dirty="0" smtClean="0"/>
              <a:t>Microsoft Visual Studio.</a:t>
            </a:r>
          </a:p>
          <a:p>
            <a:pPr marL="0" indent="0">
              <a:buNone/>
            </a:pPr>
            <a:r>
              <a:rPr lang="ru-RU" dirty="0" smtClean="0"/>
              <a:t>2.Выбрать шаблон проекта «Приложение </a:t>
            </a:r>
            <a:r>
              <a:rPr lang="en-US" dirty="0" smtClean="0"/>
              <a:t>Windows Forms (.NET Framework) </a:t>
            </a:r>
            <a:r>
              <a:rPr lang="ru-RU" dirty="0" smtClean="0"/>
              <a:t>в списке предложенных шаблонов -1, или в списке последних шаблонов -2, нажать «Далее» -3.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5</a:t>
            </a:fld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045896"/>
            <a:ext cx="5328592" cy="3538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9320242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В новом окне ввести имя проекта -</a:t>
            </a:r>
            <a:r>
              <a:rPr lang="en-US" dirty="0" smtClean="0"/>
              <a:t> </a:t>
            </a:r>
            <a:r>
              <a:rPr lang="ru-RU" dirty="0" smtClean="0"/>
              <a:t>1, и выбрать расположение проекта -</a:t>
            </a:r>
            <a:r>
              <a:rPr lang="en-US" dirty="0" smtClean="0"/>
              <a:t> </a:t>
            </a:r>
            <a:r>
              <a:rPr lang="ru-RU" dirty="0" smtClean="0"/>
              <a:t>2.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6</a:t>
            </a:fld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204864"/>
            <a:ext cx="5760640" cy="3825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11934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После создания проекта откроется визуальное представление будущего окна программы.</a:t>
            </a:r>
          </a:p>
          <a:p>
            <a:pPr marL="0" indent="0">
              <a:buNone/>
            </a:pPr>
            <a:r>
              <a:rPr lang="ru-RU" dirty="0" smtClean="0"/>
              <a:t>Для добавления на форму элементов управления выберете «Панель элементов на вкладке слева» (1). И в раскрывшейся панели выберите необходимый элемент (2) и перетащите его на форму.</a:t>
            </a:r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7</a:t>
            </a:fld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068960"/>
            <a:ext cx="5832648" cy="309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307719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Элемент добавится на форму. Теперь можно выполнить его настройку, например, изменить его размер или изменить текст подписи. </a:t>
            </a:r>
          </a:p>
          <a:p>
            <a:pPr marL="0" indent="0">
              <a:buNone/>
            </a:pPr>
            <a:r>
              <a:rPr lang="ru-RU" dirty="0" smtClean="0"/>
              <a:t>При двойном клике на нем откроется файл с классом </a:t>
            </a:r>
            <a:r>
              <a:rPr lang="en-US" dirty="0" smtClean="0"/>
              <a:t>Form1</a:t>
            </a:r>
            <a:r>
              <a:rPr lang="ru-RU" dirty="0" smtClean="0"/>
              <a:t> с добавленным методом-обработчиком события нажатия левой кнопкой мыши на элемент. При работе программы нажатие на элемент приведет к выполнению кода этого метода. </a:t>
            </a:r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8</a:t>
            </a:fld>
            <a:endParaRPr lang="ru-R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38" y="3645024"/>
            <a:ext cx="6718981" cy="259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88900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Добавим на нашу форму элемент управления «</a:t>
            </a:r>
            <a:r>
              <a:rPr lang="en-US" dirty="0" err="1" smtClean="0"/>
              <a:t>TextBox</a:t>
            </a:r>
            <a:r>
              <a:rPr lang="ru-RU" dirty="0" smtClean="0"/>
              <a:t>» - где будет отображаться вводимые значения аргументов функций и результат вычисления, и кнопки для ввода цифр.</a:t>
            </a:r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9</a:t>
            </a:fld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2348880"/>
            <a:ext cx="6172200" cy="4086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8925977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Дважды кликнув на кнопе – цифре переходим в метод обработки события «двойной клик на кнопке»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smtClean="0"/>
              <a:t>Напишем код который добавит цифру к текущему тексту в поле ввода.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ru-RU" dirty="0" smtClean="0"/>
              <a:t>Аналогичный код необходимо добавить в методы-обработчики для каждой кнопки с цифрами.</a:t>
            </a:r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10</a:t>
            </a:fld>
            <a:endParaRPr lang="ru-RU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450" y="2060848"/>
            <a:ext cx="5753100" cy="1009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3747" y="3789040"/>
            <a:ext cx="5781675" cy="1019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56499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Добавим на форму</a:t>
            </a:r>
            <a:r>
              <a:rPr lang="en-US" dirty="0" smtClean="0"/>
              <a:t> </a:t>
            </a:r>
            <a:r>
              <a:rPr lang="ru-RU" dirty="0" smtClean="0"/>
              <a:t>ещё несколько кнопок:</a:t>
            </a: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 </a:t>
            </a:r>
            <a:r>
              <a:rPr lang="en-US" dirty="0" smtClean="0"/>
              <a:t>1. </a:t>
            </a:r>
            <a:r>
              <a:rPr lang="ru-RU" dirty="0" smtClean="0"/>
              <a:t>«Запятая» </a:t>
            </a:r>
          </a:p>
          <a:p>
            <a:pPr marL="0" indent="0">
              <a:buNone/>
            </a:pPr>
            <a:r>
              <a:rPr lang="ru-RU" dirty="0" smtClean="0"/>
              <a:t>Ввести запятую в число можно только единожды, обработчика должен это учитывать. Для учета этого добавим логическую переменную.</a:t>
            </a:r>
            <a:r>
              <a:rPr lang="en-US" dirty="0" smtClean="0"/>
              <a:t> </a:t>
            </a:r>
            <a:r>
              <a:rPr lang="en-US" sz="1600" b="1" dirty="0"/>
              <a:t>private </a:t>
            </a:r>
            <a:r>
              <a:rPr lang="en-US" sz="1600" b="1" dirty="0" err="1"/>
              <a:t>bool</a:t>
            </a:r>
            <a:r>
              <a:rPr lang="en-US" sz="1600" b="1" dirty="0"/>
              <a:t> point = true;</a:t>
            </a:r>
            <a:endParaRPr lang="ru-RU" sz="1600" b="1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11</a:t>
            </a:fld>
            <a:endParaRPr lang="ru-RU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87824" y="1844824"/>
            <a:ext cx="742950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675" y="3212976"/>
            <a:ext cx="5962650" cy="145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22099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2</a:t>
            </a:r>
            <a:r>
              <a:rPr lang="en-US" dirty="0" smtClean="0"/>
              <a:t>. </a:t>
            </a:r>
            <a:r>
              <a:rPr lang="ru-RU" dirty="0" smtClean="0"/>
              <a:t>«Смена знака числа»</a:t>
            </a:r>
          </a:p>
          <a:p>
            <a:pPr marL="0" indent="0">
              <a:buNone/>
            </a:pPr>
            <a:r>
              <a:rPr lang="ru-RU" dirty="0" smtClean="0"/>
              <a:t>Код должен изменять значение числа  на противоположное, для этого  текстовая форма числа преобразуется в числовую, меняет знак и обратно конвертируется в текст.</a:t>
            </a:r>
            <a:endParaRPr lang="en-US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3. </a:t>
            </a:r>
            <a:r>
              <a:rPr lang="ru-RU" dirty="0" smtClean="0"/>
              <a:t>«Сброс (</a:t>
            </a:r>
            <a:r>
              <a:rPr lang="en-US" dirty="0" smtClean="0"/>
              <a:t>Reset</a:t>
            </a:r>
            <a:r>
              <a:rPr lang="ru-RU" dirty="0" smtClean="0"/>
              <a:t>)»</a:t>
            </a:r>
            <a:endParaRPr lang="ru-RU" dirty="0"/>
          </a:p>
          <a:p>
            <a:pPr marL="0" indent="0">
              <a:buNone/>
            </a:pPr>
            <a:r>
              <a:rPr lang="ru-RU" dirty="0" smtClean="0"/>
              <a:t>Код очищает содержимое окна ввода.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12</a:t>
            </a:fld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8575" y="1412776"/>
            <a:ext cx="733425" cy="238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738019"/>
            <a:ext cx="7029450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5625" y="4130047"/>
            <a:ext cx="742950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9707" y="4869158"/>
            <a:ext cx="5829300" cy="120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2926133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 smtClean="0"/>
              <a:t>Добавим </a:t>
            </a:r>
            <a:r>
              <a:rPr lang="ru-RU" dirty="0"/>
              <a:t>кнопки для </a:t>
            </a:r>
            <a:r>
              <a:rPr lang="ru-RU" dirty="0" smtClean="0"/>
              <a:t>выполнения арифметических</a:t>
            </a:r>
          </a:p>
          <a:p>
            <a:pPr marL="0" indent="0">
              <a:buNone/>
            </a:pPr>
            <a:r>
              <a:rPr lang="ru-RU" dirty="0" smtClean="0"/>
              <a:t>действий - «</a:t>
            </a:r>
            <a:r>
              <a:rPr lang="ru-RU" b="1" dirty="0" smtClean="0"/>
              <a:t>+</a:t>
            </a:r>
            <a:r>
              <a:rPr lang="ru-RU" dirty="0" smtClean="0"/>
              <a:t>», «</a:t>
            </a:r>
            <a:r>
              <a:rPr lang="ru-RU" b="1" dirty="0" smtClean="0"/>
              <a:t>-</a:t>
            </a:r>
            <a:r>
              <a:rPr lang="ru-RU" dirty="0" smtClean="0"/>
              <a:t>», «</a:t>
            </a:r>
            <a:r>
              <a:rPr lang="ru-RU" b="1" dirty="0" smtClean="0"/>
              <a:t>*</a:t>
            </a:r>
            <a:r>
              <a:rPr lang="ru-RU" dirty="0" smtClean="0"/>
              <a:t>», «</a:t>
            </a:r>
            <a:r>
              <a:rPr lang="ru-RU" b="1" dirty="0" smtClean="0"/>
              <a:t>/</a:t>
            </a:r>
            <a:r>
              <a:rPr lang="ru-RU" dirty="0" smtClean="0"/>
              <a:t>», и кнопку «</a:t>
            </a:r>
            <a:r>
              <a:rPr lang="ru-RU" b="1" dirty="0" smtClean="0"/>
              <a:t>=</a:t>
            </a:r>
            <a:r>
              <a:rPr lang="ru-RU" dirty="0" smtClean="0"/>
              <a:t>».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Для </a:t>
            </a:r>
            <a:r>
              <a:rPr lang="ru-RU" dirty="0"/>
              <a:t>реализации алгоритма работы кнопок действия и кнопки равно необходимо объявить переменные для аргументов</a:t>
            </a:r>
          </a:p>
          <a:p>
            <a:pPr marL="0" indent="0">
              <a:buNone/>
            </a:pPr>
            <a:r>
              <a:rPr lang="ru-RU" sz="1800" b="1" dirty="0"/>
              <a:t>	</a:t>
            </a:r>
            <a:r>
              <a:rPr lang="en-US" sz="1800" b="1" dirty="0"/>
              <a:t>private double </a:t>
            </a:r>
            <a:r>
              <a:rPr lang="en-US" sz="1800" b="1" dirty="0" err="1"/>
              <a:t>firstArgument</a:t>
            </a:r>
            <a:r>
              <a:rPr lang="en-US" sz="1800" b="1" dirty="0"/>
              <a:t>, </a:t>
            </a:r>
            <a:r>
              <a:rPr lang="en-US" sz="1800" b="1" dirty="0" err="1"/>
              <a:t>secondArgument</a:t>
            </a:r>
            <a:r>
              <a:rPr lang="en-US" sz="1800" b="1" dirty="0"/>
              <a:t>;</a:t>
            </a:r>
            <a:r>
              <a:rPr lang="ru-RU" sz="1800" b="1" dirty="0"/>
              <a:t>,</a:t>
            </a:r>
          </a:p>
          <a:p>
            <a:pPr marL="0" indent="0">
              <a:buNone/>
            </a:pPr>
            <a:r>
              <a:rPr lang="ru-RU" dirty="0"/>
              <a:t>И перечисление для возможности выбора и реализации действия</a:t>
            </a:r>
          </a:p>
          <a:p>
            <a:pPr marL="800100" lvl="2" indent="0">
              <a:buNone/>
            </a:pPr>
            <a:r>
              <a:rPr lang="fr-FR" sz="1800" b="1" dirty="0"/>
              <a:t>enum Actions { Plus, Minus, Power, Divide }</a:t>
            </a:r>
            <a:r>
              <a:rPr lang="ru-RU" sz="1800" b="1" dirty="0"/>
              <a:t>,</a:t>
            </a:r>
          </a:p>
          <a:p>
            <a:pPr marL="0" indent="0">
              <a:buNone/>
            </a:pPr>
            <a:r>
              <a:rPr lang="ru-RU" dirty="0"/>
              <a:t>А также объявить переменную этого типа</a:t>
            </a:r>
          </a:p>
          <a:p>
            <a:pPr marL="800100" lvl="2" indent="0">
              <a:buNone/>
            </a:pPr>
            <a:r>
              <a:rPr lang="en-US" b="1" dirty="0"/>
              <a:t>Actions action;</a:t>
            </a:r>
            <a:r>
              <a:rPr lang="ru-RU" b="1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13</a:t>
            </a:fld>
            <a:endParaRPr lang="ru-RU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1262" y="1453927"/>
            <a:ext cx="790575" cy="1104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877789"/>
            <a:ext cx="752475" cy="257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004842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Напишем обработчик нажатия для кнопки «+» который</a:t>
            </a:r>
            <a:r>
              <a:rPr lang="ru-RU" dirty="0" smtClean="0"/>
              <a:t>:</a:t>
            </a:r>
            <a:endParaRPr lang="en-US" dirty="0" smtClean="0"/>
          </a:p>
          <a:p>
            <a:pPr marL="457200" indent="-457200">
              <a:buAutoNum type="arabicPeriod"/>
            </a:pPr>
            <a:r>
              <a:rPr lang="ru-RU" dirty="0" smtClean="0"/>
              <a:t>Восстанавливает возможность использовать запятую,</a:t>
            </a:r>
          </a:p>
          <a:p>
            <a:pPr marL="457200" indent="-457200">
              <a:buAutoNum type="arabicPeriod"/>
            </a:pPr>
            <a:r>
              <a:rPr lang="ru-RU" dirty="0" smtClean="0"/>
              <a:t>Конвертирует текст введенного числа в значение первого аргумента,</a:t>
            </a:r>
          </a:p>
          <a:p>
            <a:pPr marL="457200" indent="-457200">
              <a:buAutoNum type="arabicPeriod"/>
            </a:pPr>
            <a:r>
              <a:rPr lang="ru-RU" dirty="0" smtClean="0"/>
              <a:t>Очищает окно ввода значений,</a:t>
            </a:r>
          </a:p>
          <a:p>
            <a:pPr marL="457200" indent="-457200">
              <a:buAutoNum type="arabicPeriod"/>
            </a:pPr>
            <a:r>
              <a:rPr lang="ru-RU" dirty="0" smtClean="0"/>
              <a:t>Устанавливает значения действия.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 smtClean="0"/>
          </a:p>
          <a:p>
            <a:pPr marL="0" indent="0">
              <a:buNone/>
            </a:pPr>
            <a:endParaRPr lang="ru-RU" dirty="0" smtClean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14</a:t>
            </a:fld>
            <a:endParaRPr lang="ru-RU" dirty="0"/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3789040"/>
            <a:ext cx="5810250" cy="1895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05336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Напишем обработчик нажатия для кнопки </a:t>
            </a:r>
            <a:r>
              <a:rPr lang="ru-RU" dirty="0" smtClean="0"/>
              <a:t>«=» </a:t>
            </a:r>
            <a:r>
              <a:rPr lang="ru-RU" dirty="0"/>
              <a:t>который:</a:t>
            </a:r>
          </a:p>
          <a:p>
            <a:pPr marL="457200" indent="-457200">
              <a:buAutoNum type="arabicPeriod"/>
            </a:pPr>
            <a:r>
              <a:rPr lang="ru-RU" dirty="0"/>
              <a:t>Восстанавливает возможность использовать запятую,</a:t>
            </a:r>
          </a:p>
          <a:p>
            <a:pPr marL="457200" indent="-457200">
              <a:buAutoNum type="arabicPeriod"/>
            </a:pPr>
            <a:r>
              <a:rPr lang="ru-RU" dirty="0"/>
              <a:t>Конвертирует текст введенного числа в значение </a:t>
            </a:r>
            <a:r>
              <a:rPr lang="ru-RU" dirty="0" smtClean="0"/>
              <a:t>второго аргумента,</a:t>
            </a:r>
          </a:p>
          <a:p>
            <a:pPr marL="457200" indent="-457200">
              <a:buAutoNum type="arabicPeriod"/>
            </a:pPr>
            <a:r>
              <a:rPr lang="ru-RU" dirty="0" smtClean="0"/>
              <a:t>Выполняет расчет и выводит его в текстовое окно. </a:t>
            </a:r>
            <a:endParaRPr 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15</a:t>
            </a:fld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525" y="3429000"/>
            <a:ext cx="8362950" cy="1647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99472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 algn="just">
              <a:buNone/>
            </a:pPr>
            <a:r>
              <a:rPr lang="ru-RU" dirty="0" smtClean="0"/>
              <a:t>Результат вычисляет метод  </a:t>
            </a:r>
            <a:r>
              <a:rPr lang="en-US" b="1" dirty="0" smtClean="0"/>
              <a:t>Solution</a:t>
            </a:r>
            <a:r>
              <a:rPr lang="ru-RU" b="1" dirty="0" smtClean="0"/>
              <a:t>, </a:t>
            </a:r>
            <a:r>
              <a:rPr lang="ru-RU" dirty="0" smtClean="0"/>
              <a:t>который учитывает выбранное действие. Оно передается через параметр </a:t>
            </a:r>
            <a:r>
              <a:rPr lang="en-US" b="1" dirty="0"/>
              <a:t>Actions </a:t>
            </a:r>
            <a:r>
              <a:rPr lang="en-US" b="1" dirty="0" smtClean="0"/>
              <a:t>ac</a:t>
            </a:r>
            <a:r>
              <a:rPr lang="ru-RU" dirty="0" smtClean="0"/>
              <a:t>, два других параметра передают аргументы для вычислений.</a:t>
            </a:r>
          </a:p>
          <a:p>
            <a:pPr marL="0" indent="0" algn="just">
              <a:buNone/>
            </a:pPr>
            <a:r>
              <a:rPr lang="ru-RU" dirty="0" smtClean="0"/>
              <a:t>Метод возвращает результат вычисления. </a:t>
            </a:r>
          </a:p>
          <a:p>
            <a:pPr marL="0" indent="0">
              <a:buNone/>
            </a:pPr>
            <a:r>
              <a:rPr lang="ru-RU" dirty="0"/>
              <a:t>(остальные </a:t>
            </a:r>
            <a:r>
              <a:rPr lang="ru-RU" dirty="0" smtClean="0"/>
              <a:t>действия</a:t>
            </a:r>
            <a:r>
              <a:rPr lang="en-US" dirty="0" smtClean="0"/>
              <a:t> </a:t>
            </a:r>
            <a:r>
              <a:rPr lang="ru-RU" dirty="0" smtClean="0"/>
              <a:t>в методе необходимо</a:t>
            </a:r>
            <a:r>
              <a:rPr lang="en-US" dirty="0" smtClean="0"/>
              <a:t> </a:t>
            </a:r>
            <a:r>
              <a:rPr lang="ru-RU" dirty="0" smtClean="0"/>
              <a:t>реализовать </a:t>
            </a:r>
            <a:r>
              <a:rPr lang="ru-RU" dirty="0"/>
              <a:t>самостоятельно)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16</a:t>
            </a:fld>
            <a:endParaRPr lang="ru-RU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5593" y="3373103"/>
            <a:ext cx="6219825" cy="2714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5312619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i="1" dirty="0" smtClean="0"/>
              <a:t>Обработка исключительной ситуации «</a:t>
            </a:r>
            <a:r>
              <a:rPr lang="en-US" b="1" i="1" dirty="0" err="1"/>
              <a:t>FormatException</a:t>
            </a:r>
            <a:r>
              <a:rPr lang="ru-RU" i="1" dirty="0" smtClean="0"/>
              <a:t>».</a:t>
            </a:r>
          </a:p>
          <a:p>
            <a:pPr marL="0" indent="0" algn="just">
              <a:buNone/>
            </a:pPr>
            <a:r>
              <a:rPr lang="ru-RU" dirty="0" smtClean="0"/>
              <a:t>При вводе значений аргументов возможны ошибки которые надо обработать. Создадим новый метод </a:t>
            </a:r>
            <a:r>
              <a:rPr lang="en-US" b="1" dirty="0" smtClean="0"/>
              <a:t>Argument</a:t>
            </a:r>
            <a:r>
              <a:rPr lang="ru-RU" b="1" dirty="0" smtClean="0"/>
              <a:t> </a:t>
            </a:r>
            <a:r>
              <a:rPr lang="ru-RU" dirty="0" smtClean="0"/>
              <a:t>конвертирующий значения с обработчиком исключительной ситуации. Метод возвращает логическое значение </a:t>
            </a:r>
            <a:r>
              <a:rPr lang="en-US" b="1" dirty="0" smtClean="0"/>
              <a:t>true</a:t>
            </a:r>
            <a:r>
              <a:rPr lang="ru-RU" b="1" dirty="0" smtClean="0"/>
              <a:t> </a:t>
            </a:r>
            <a:r>
              <a:rPr lang="ru-RU" dirty="0" smtClean="0"/>
              <a:t>для управления переменной </a:t>
            </a:r>
            <a:r>
              <a:rPr lang="en-US" b="1" dirty="0" smtClean="0"/>
              <a:t>point</a:t>
            </a:r>
            <a:r>
              <a:rPr lang="ru-RU" b="1" dirty="0" smtClean="0"/>
              <a:t>, </a:t>
            </a:r>
            <a:r>
              <a:rPr lang="ru-RU" dirty="0" smtClean="0"/>
              <a:t>так как после конвертации аргумента необходимо восстановить возможность ввода запятой. </a:t>
            </a:r>
            <a:endParaRPr lang="en-US" b="1" dirty="0"/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17</a:t>
            </a:fld>
            <a:endParaRPr lang="ru-RU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3717032"/>
            <a:ext cx="4464496" cy="26110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100051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i="1" dirty="0" err="1" smtClean="0"/>
              <a:t>рефакторинг</a:t>
            </a:r>
            <a:r>
              <a:rPr lang="ru-RU" i="1" dirty="0" smtClean="0"/>
              <a:t> кода.</a:t>
            </a:r>
          </a:p>
          <a:p>
            <a:pPr marL="0" indent="0" algn="just">
              <a:buNone/>
            </a:pPr>
            <a:r>
              <a:rPr lang="ru-RU" dirty="0" smtClean="0"/>
              <a:t>Применим новый метод </a:t>
            </a:r>
            <a:r>
              <a:rPr lang="en-US" b="1" dirty="0"/>
              <a:t>Argument</a:t>
            </a:r>
            <a:r>
              <a:rPr lang="ru-RU" dirty="0" smtClean="0"/>
              <a:t> для обработчиков нажатия кнопок «</a:t>
            </a:r>
            <a:r>
              <a:rPr lang="ru-RU" b="1" dirty="0" smtClean="0"/>
              <a:t>+</a:t>
            </a:r>
            <a:r>
              <a:rPr lang="ru-RU" dirty="0" smtClean="0"/>
              <a:t>» и «</a:t>
            </a:r>
            <a:r>
              <a:rPr lang="ru-RU" b="1" dirty="0" smtClean="0"/>
              <a:t>=</a:t>
            </a:r>
            <a:r>
              <a:rPr lang="ru-RU" dirty="0" smtClean="0"/>
              <a:t>».</a:t>
            </a:r>
            <a:endParaRPr lang="en-US" b="1" dirty="0"/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18</a:t>
            </a:fld>
            <a:endParaRPr lang="ru-RU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492896"/>
            <a:ext cx="8429625" cy="293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87457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="" xmlns:a16="http://schemas.microsoft.com/office/drawing/2014/main" id="{B8E245EA-5068-4DD5-8A63-841F17CCC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654051"/>
            <a:ext cx="8002587" cy="542702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ru-RU" dirty="0" smtClean="0"/>
              <a:t>Порядок выполнения</a:t>
            </a:r>
            <a:endParaRPr dirty="0"/>
          </a:p>
        </p:txBody>
      </p:sp>
      <p:sp>
        <p:nvSpPr>
          <p:cNvPr id="17411" name="Объект 4">
            <a:extLst>
              <a:ext uri="{FF2B5EF4-FFF2-40B4-BE49-F238E27FC236}">
                <a16:creationId xmlns="" xmlns:a16="http://schemas.microsoft.com/office/drawing/2014/main" id="{202A87ED-57B6-4EF9-B047-11F1003813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213" y="1340768"/>
            <a:ext cx="8208267" cy="4525963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Приведенных выше инструкций </a:t>
            </a:r>
            <a:r>
              <a:rPr lang="ru-RU" i="1" dirty="0" smtClean="0"/>
              <a:t>достаточно</a:t>
            </a:r>
            <a:r>
              <a:rPr lang="ru-RU" dirty="0" smtClean="0"/>
              <a:t>, что бы </a:t>
            </a:r>
            <a:r>
              <a:rPr lang="ru-RU" i="1" dirty="0" smtClean="0"/>
              <a:t>действуя аналогично</a:t>
            </a:r>
            <a:r>
              <a:rPr lang="ru-RU" dirty="0" smtClean="0"/>
              <a:t>, добавить: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Возможность вычислять другие действия согласно задания.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Кнопку очистки.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/>
              <a:t>А также, обработать остальные исключительные ситуации. </a:t>
            </a:r>
            <a:endParaRPr lang="en-US" dirty="0"/>
          </a:p>
          <a:p>
            <a:pPr marL="0" indent="0">
              <a:buNone/>
            </a:pPr>
            <a:endParaRPr lang="ru-RU" b="1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="" xmlns:a16="http://schemas.microsoft.com/office/drawing/2014/main" id="{E33B2B2A-3364-4BA0-AAEC-588497647C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70E2C78-D963-41D0-A1F9-1D46EFBE2BEB}" type="slidenum">
              <a:rPr lang="ru-RU"/>
              <a:pPr>
                <a:defRPr/>
              </a:pPr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81791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Шаблон занятий Синергия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Шаблон занятий Синергия" id="{63C78447-C2AE-4282-AD35-C5ACEC526D3A}" vid="{BC228943-5DCA-438F-A799-E7D7B42AA5AE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10496</TotalTime>
  <Words>738</Words>
  <Application>Microsoft Office PowerPoint</Application>
  <PresentationFormat>Экран (4:3)</PresentationFormat>
  <Paragraphs>127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Шаблон занятий Синергия</vt:lpstr>
      <vt:lpstr>Презентация PowerPoint</vt:lpstr>
      <vt:lpstr>Тема занятия: </vt:lpstr>
      <vt:lpstr>Задание: </vt:lpstr>
      <vt:lpstr>Задание: 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  <vt:lpstr>Порядок выполнения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 Windows</dc:creator>
  <cp:lastModifiedBy>Алексей Зайцев</cp:lastModifiedBy>
  <cp:revision>86</cp:revision>
  <dcterms:created xsi:type="dcterms:W3CDTF">2021-09-01T13:47:28Z</dcterms:created>
  <dcterms:modified xsi:type="dcterms:W3CDTF">2025-09-06T08:53:08Z</dcterms:modified>
</cp:coreProperties>
</file>