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711" r:id="rId2"/>
  </p:sldMasterIdLst>
  <p:notesMasterIdLst>
    <p:notesMasterId r:id="rId12"/>
  </p:notesMasterIdLst>
  <p:sldIdLst>
    <p:sldId id="485" r:id="rId3"/>
    <p:sldId id="660" r:id="rId4"/>
    <p:sldId id="717" r:id="rId5"/>
    <p:sldId id="712" r:id="rId6"/>
    <p:sldId id="661" r:id="rId7"/>
    <p:sldId id="711" r:id="rId8"/>
    <p:sldId id="710" r:id="rId9"/>
    <p:sldId id="708" r:id="rId10"/>
    <p:sldId id="707" r:id="rId11"/>
  </p:sldIdLst>
  <p:sldSz cx="12192000" cy="6858000"/>
  <p:notesSz cx="6797675" cy="9928225"/>
  <p:embeddedFontLst>
    <p:embeddedFont>
      <p:font typeface="TT Norms Pro ExtraBold" panose="02000503030000020004" charset="0"/>
      <p:bold r:id="rId13"/>
      <p:boldItalic r:id="rId14"/>
    </p:embeddedFont>
    <p:embeddedFont>
      <p:font typeface="TT Norms Pro Light" panose="02000503020000020003" charset="0"/>
      <p:regular r:id="rId15"/>
      <p: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щук Татьяна Павловна" initials="ЛТП" lastIdx="51" clrIdx="0">
    <p:extLst>
      <p:ext uri="{19B8F6BF-5375-455C-9EA6-DF929625EA0E}">
        <p15:presenceInfo xmlns:p15="http://schemas.microsoft.com/office/powerpoint/2012/main" userId="S-1-5-21-2542494797-2759003736-1566031932-694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556"/>
    <a:srgbClr val="FFF1C7"/>
    <a:srgbClr val="C7EED9"/>
    <a:srgbClr val="DAF7F4"/>
    <a:srgbClr val="FCE8DB"/>
    <a:srgbClr val="ACDFFF"/>
    <a:srgbClr val="FEDACA"/>
    <a:srgbClr val="B4C7E7"/>
    <a:srgbClr val="7DCD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3372" autoAdjust="0"/>
  </p:normalViewPr>
  <p:slideViewPr>
    <p:cSldViewPr snapToGrid="0">
      <p:cViewPr varScale="1">
        <p:scale>
          <a:sx n="117" d="100"/>
          <a:sy n="117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767E9-E000-4F0C-9208-10225D2495A0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7552"/>
            <a:ext cx="5438775" cy="3909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C8C4-AC90-4118-94BF-F90AB64BC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7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973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261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28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7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988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002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24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00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1163719" y="862305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8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24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23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6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96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2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45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5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686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055688" y="6011247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00787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224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3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86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75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7453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94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194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91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5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07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orient="horz" pos="1207" userDrawn="1">
          <p15:clr>
            <a:srgbClr val="F26B43"/>
          </p15:clr>
        </p15:guide>
        <p15:guide id="3" pos="66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6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>
          <p15:clr>
            <a:srgbClr val="F26B43"/>
          </p15:clr>
        </p15:guide>
        <p15:guide id="2" orient="horz" pos="1207">
          <p15:clr>
            <a:srgbClr val="F26B43"/>
          </p15:clr>
        </p15:guide>
        <p15:guide id="3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3"/>
          <p:cNvSpPr>
            <a:spLocks/>
          </p:cNvSpPr>
          <p:nvPr/>
        </p:nvSpPr>
        <p:spPr bwMode="auto">
          <a:xfrm>
            <a:off x="7215347" y="-1662457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8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1055687" y="2619513"/>
            <a:ext cx="5481300" cy="2260050"/>
            <a:chOff x="1055687" y="2825521"/>
            <a:chExt cx="4981666" cy="2054041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1055687" y="2825521"/>
              <a:ext cx="4446320" cy="1225126"/>
            </a:xfrm>
            <a:prstGeom prst="roundRect">
              <a:avLst>
                <a:gd name="adj" fmla="val 13262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" name="Скругленный прямоугольник 15"/>
            <p:cNvSpPr/>
            <p:nvPr/>
          </p:nvSpPr>
          <p:spPr>
            <a:xfrm>
              <a:off x="1055688" y="3416128"/>
              <a:ext cx="4981665" cy="815454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1055688" y="3714066"/>
              <a:ext cx="1928580" cy="1165496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Прямоугольный треугольник 8"/>
            <p:cNvSpPr/>
            <p:nvPr/>
          </p:nvSpPr>
          <p:spPr>
            <a:xfrm rot="5400000">
              <a:off x="2984268" y="4231583"/>
              <a:ext cx="144168" cy="144168"/>
            </a:xfrm>
            <a:custGeom>
              <a:avLst/>
              <a:gdLst>
                <a:gd name="connsiteX0" fmla="*/ 0 w 1638096"/>
                <a:gd name="connsiteY0" fmla="*/ 1638096 h 1638096"/>
                <a:gd name="connsiteX1" fmla="*/ 0 w 1638096"/>
                <a:gd name="connsiteY1" fmla="*/ 0 h 1638096"/>
                <a:gd name="connsiteX2" fmla="*/ 1638096 w 1638096"/>
                <a:gd name="connsiteY2" fmla="*/ 1638096 h 1638096"/>
                <a:gd name="connsiteX3" fmla="*/ 0 w 1638096"/>
                <a:gd name="connsiteY3" fmla="*/ 1638096 h 1638096"/>
                <a:gd name="connsiteX0" fmla="*/ 0 w 1638096"/>
                <a:gd name="connsiteY0" fmla="*/ 1638096 h 1638100"/>
                <a:gd name="connsiteX1" fmla="*/ 0 w 1638096"/>
                <a:gd name="connsiteY1" fmla="*/ 0 h 1638100"/>
                <a:gd name="connsiteX2" fmla="*/ 1638096 w 1638096"/>
                <a:gd name="connsiteY2" fmla="*/ 1638096 h 1638100"/>
                <a:gd name="connsiteX3" fmla="*/ 0 w 1638096"/>
                <a:gd name="connsiteY3" fmla="*/ 1638096 h 1638100"/>
                <a:gd name="connsiteX0" fmla="*/ 6 w 1638102"/>
                <a:gd name="connsiteY0" fmla="*/ 1638096 h 1638101"/>
                <a:gd name="connsiteX1" fmla="*/ 6 w 1638102"/>
                <a:gd name="connsiteY1" fmla="*/ 0 h 1638101"/>
                <a:gd name="connsiteX2" fmla="*/ 1638102 w 1638102"/>
                <a:gd name="connsiteY2" fmla="*/ 1638096 h 1638101"/>
                <a:gd name="connsiteX3" fmla="*/ 6 w 1638102"/>
                <a:gd name="connsiteY3" fmla="*/ 1638096 h 16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102" h="1638101">
                  <a:moveTo>
                    <a:pt x="6" y="1638096"/>
                  </a:moveTo>
                  <a:lnTo>
                    <a:pt x="6" y="0"/>
                  </a:lnTo>
                  <a:cubicBezTo>
                    <a:pt x="-2602" y="720599"/>
                    <a:pt x="726310" y="1640704"/>
                    <a:pt x="1638102" y="1638096"/>
                  </a:cubicBezTo>
                  <a:lnTo>
                    <a:pt x="6" y="1638096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2" name="Freeform 23"/>
          <p:cNvSpPr>
            <a:spLocks/>
          </p:cNvSpPr>
          <p:nvPr/>
        </p:nvSpPr>
        <p:spPr bwMode="auto">
          <a:xfrm>
            <a:off x="7165274" y="-1328840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ACDFFF"/>
              </a:gs>
              <a:gs pos="88000">
                <a:srgbClr val="D1ED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12702167" y="1387373"/>
            <a:ext cx="5827232" cy="91681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6120 w 16974"/>
              <a:gd name="connsiteY0" fmla="*/ 1127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6120 w 16974"/>
              <a:gd name="connsiteY6" fmla="*/ 11271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6120" y="11271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6120" y="11271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13170399" y="-404827"/>
            <a:ext cx="6966348" cy="109603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3190" y="9712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3190" y="9712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3170399" y="-3100971"/>
            <a:ext cx="1977231" cy="3852493"/>
            <a:chOff x="7177556" y="-1516120"/>
            <a:chExt cx="5560847" cy="10834912"/>
          </a:xfrm>
        </p:grpSpPr>
        <p:sp>
          <p:nvSpPr>
            <p:cNvPr id="12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chemeClr val="bg1">
                <a:lumMod val="95000"/>
                <a:alpha val="4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528549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957373"/>
            <a:ext cx="2505825" cy="31104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96517" y="4267277"/>
            <a:ext cx="3545250" cy="754967"/>
          </a:xfrm>
          <a:prstGeom prst="roundRect">
            <a:avLst>
              <a:gd name="adj" fmla="val 15991"/>
            </a:avLst>
          </a:prstGeom>
          <a:solidFill>
            <a:srgbClr val="DBDBDB"/>
          </a:solidFill>
          <a:ln w="12700">
            <a:noFill/>
          </a:ln>
        </p:spPr>
        <p:txBody>
          <a:bodyPr wrap="square" lIns="216000" tIns="36000" rIns="0" bIns="0" rtlCol="0" anchor="ctr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2000" dirty="0">
                <a:solidFill>
                  <a:schemeClr val="tx1"/>
                </a:solidFill>
                <a:latin typeface="+mn-lt"/>
                <a:ea typeface="+mn-ea"/>
              </a:rPr>
              <a:t>Управление и автоматизация баз данных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070599" y="5866244"/>
            <a:ext cx="3079370" cy="672668"/>
          </a:xfrm>
          <a:prstGeom prst="roundRect">
            <a:avLst>
              <a:gd name="adj" fmla="val 22148"/>
            </a:avLst>
          </a:prstGeom>
          <a:solidFill>
            <a:srgbClr val="DBDBDB"/>
          </a:solidFill>
          <a:ln w="19050">
            <a:noFill/>
          </a:ln>
        </p:spPr>
        <p:txBody>
          <a:bodyPr vert="horz" wrap="square" lIns="21600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4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0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+mn-lt"/>
              </a:rPr>
              <a:t>Цой Валентин Валерьевич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Gotham Pro Light" panose="020005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7321" y="2688126"/>
            <a:ext cx="5915801" cy="1573614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  <p:txBody>
          <a:bodyPr wrap="square" lIns="180000" tIns="108000" rIns="144000" bIns="108000" rtlCol="0" anchor="ctr">
            <a:spAutoFit/>
          </a:bodyPr>
          <a:lstStyle/>
          <a:p>
            <a:pPr lvl="0" algn="l">
              <a:lnSpc>
                <a:spcPct val="85000"/>
              </a:lnSpc>
              <a:defRPr/>
            </a:pPr>
            <a:r>
              <a:rPr lang="ru-RU" sz="4800" b="1" i="0" dirty="0">
                <a:solidFill>
                  <a:schemeClr val="bg1"/>
                </a:solidFill>
                <a:effectLst/>
                <a:latin typeface="+mn-lt"/>
              </a:rPr>
              <a:t>Серверы баз данных</a:t>
            </a:r>
            <a:endParaRPr lang="en-US" sz="4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767" y="1101180"/>
            <a:ext cx="4536164" cy="57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515938" y="512763"/>
            <a:ext cx="11160125" cy="5832475"/>
          </a:xfrm>
          <a:prstGeom prst="roundRect">
            <a:avLst>
              <a:gd name="adj" fmla="val 3913"/>
            </a:avLst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7955817" y="-590030"/>
            <a:ext cx="4125407" cy="8038061"/>
            <a:chOff x="7177556" y="-1516120"/>
            <a:chExt cx="5560847" cy="10834912"/>
          </a:xfrm>
        </p:grpSpPr>
        <p:sp>
          <p:nvSpPr>
            <p:cNvPr id="13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DFEFF7">
                <a:alpha val="4862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5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62755" y="3783954"/>
            <a:ext cx="5767528" cy="3074045"/>
          </a:xfrm>
          <a:prstGeom prst="roundRect">
            <a:avLst>
              <a:gd name="adj" fmla="val 11196"/>
            </a:avLst>
          </a:prstGeom>
          <a:solidFill>
            <a:schemeClr val="bg1"/>
          </a:solidFill>
          <a:ln>
            <a:noFill/>
          </a:ln>
        </p:spPr>
        <p:txBody>
          <a:bodyPr vert="horz" wrap="square" lIns="180000" tIns="108000" rIns="144000" bIns="10800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rgbClr val="11253D"/>
                </a:solidFill>
                <a:latin typeface="Gotham Pro Medium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Pro ExtraBold" panose="02000503030000020004" pitchFamily="2" charset="0"/>
              <a:cs typeface="Gotham Pro Medium" panose="020006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5937" y="3957638"/>
            <a:ext cx="5414346" cy="2387600"/>
          </a:xfrm>
        </p:spPr>
        <p:txBody>
          <a:bodyPr anchor="t">
            <a:noAutofit/>
          </a:bodyPr>
          <a:lstStyle/>
          <a:p>
            <a:pPr algn="l"/>
            <a:r>
              <a:rPr lang="ru-RU" sz="4000" dirty="0">
                <a:latin typeface="+mn-lt"/>
              </a:rPr>
              <a:t>Формирование аппаратных требований и схемы банка данных</a:t>
            </a:r>
            <a:endParaRPr lang="ru-RU" sz="40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9" y="957373"/>
            <a:ext cx="1617173" cy="200735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515938" y="2137682"/>
            <a:ext cx="355879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rgbClr val="11253D"/>
                </a:solidFill>
                <a:latin typeface="TT Norms Pro Medium" panose="02000803030000020004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Pro ExtraBold" panose="02000503030000020004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1960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C59CBB3-DA46-45CF-B047-D9F9FC9D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Постановка цели и задач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EC593-DADB-401A-F014-602DE8CEE63B}"/>
              </a:ext>
            </a:extLst>
          </p:cNvPr>
          <p:cNvSpPr txBox="1"/>
          <p:nvPr/>
        </p:nvSpPr>
        <p:spPr>
          <a:xfrm>
            <a:off x="1239711" y="1674673"/>
            <a:ext cx="9712578" cy="392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Закрепить комплекс умений по проектированию базы данных, созданию ее прототипа, разработке регламентов ее обслуживания и формированию сценариев использования для различных групп пользователей.</a:t>
            </a:r>
          </a:p>
          <a:p>
            <a:pPr algn="just">
              <a:spcBef>
                <a:spcPts val="450"/>
              </a:spcBef>
              <a:spcAft>
                <a:spcPts val="6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Построить концептуальную, логическую и физическую модели данных для автоматизируемого бизнес-процесса.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Создать демонстрационную базу данных с тестовым наполнением.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Разработать комплект процедур по эксплуатации и обслуживанию СУБД (установка, резервное копирование, мониторинг, аудит).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Сформировать сценарии использования БД: определить роли, составить SQL-запросы и создать необходимые представления, триггеры и хранимые процедуры.</a:t>
            </a:r>
          </a:p>
        </p:txBody>
      </p:sp>
    </p:spTree>
    <p:extLst>
      <p:ext uri="{BB962C8B-B14F-4D97-AF65-F5344CB8AC3E}">
        <p14:creationId xmlns:p14="http://schemas.microsoft.com/office/powerpoint/2010/main" val="2096961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2134561"/>
            <a:ext cx="10399206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1.Для выбранного в процессе выполнения ЛР№1 бизнес-процесса построить концептуальную, логическую и физическую модели данных: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1.1.Концептуальная модель – в нотации Чена, IDEF1X или диаграмма классов UML;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1.2.Логическая модель – диаграмма классов UML;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1.3.Физическая модель – диаграмма классов UML в понятиях выбранной реляционной СУБД</a:t>
            </a:r>
          </a:p>
        </p:txBody>
      </p:sp>
    </p:spTree>
    <p:extLst>
      <p:ext uri="{BB962C8B-B14F-4D97-AF65-F5344CB8AC3E}">
        <p14:creationId xmlns:p14="http://schemas.microsoft.com/office/powerpoint/2010/main" val="851638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2337762"/>
            <a:ext cx="10399206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2.Для построенной физической модели сформировать демо-базу: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2.1.Подготовить наполнение для каждого справочника (классификатора)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2.2.Подготовить наполнение для каждой операционной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1123852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1780908"/>
            <a:ext cx="10399206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3.Разработка мероприятий по обслуживанию сервера БД: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3.1.Разработать описание процедуры установки сервера БД.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3.2.Разработать описание процедуры выгрузки базы данных в дамп базы данных.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3.3.Разработать описание процедуры восстановления базы данных из дампа на сервере.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3.4.Разработать описание процедуры создания новой учетной записи пользователя БД и делегирования ему прав доступа к базе данных или отдельным ее таблицам.</a:t>
            </a:r>
          </a:p>
        </p:txBody>
      </p:sp>
    </p:spTree>
    <p:extLst>
      <p:ext uri="{BB962C8B-B14F-4D97-AF65-F5344CB8AC3E}">
        <p14:creationId xmlns:p14="http://schemas.microsoft.com/office/powerpoint/2010/main" val="3195608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01753" y="1726842"/>
            <a:ext cx="103992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/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3.5.Разработать описание процедуры резервного копирования базы данных – последовательность действий, план-график выполнения.</a:t>
            </a:r>
          </a:p>
          <a:p>
            <a:pPr indent="450000" algn="just"/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3.6.Разработать описание процедуры восстановления базы данных из резервной копии.</a:t>
            </a:r>
          </a:p>
          <a:p>
            <a:pPr indent="450000" algn="just"/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3.7.Разработать описание процедуры мониторинга нагрузки на сервер БД.</a:t>
            </a:r>
          </a:p>
          <a:p>
            <a:pPr indent="450000" algn="just"/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3.8.Разработать описание процедуры работы с журналом аудита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843144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1730853"/>
            <a:ext cx="10399206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4.	Разработка сценариев использования БД: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4.1.Для каждой определенной в п.4 ЛР№2 группы пользователей, составить перечень используемых в ходе осуществления должностных обязанностей объектов базы данных и допустимых действий над ними – ролей.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4.2.Для каждой роли и используемой таблицы построить SQL-запросы на вставку, изменение, удаление данных.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4.3.Для каждой роли определить состав представлений, необходимых для осуществления должностных обязанностей.</a:t>
            </a:r>
          </a:p>
        </p:txBody>
      </p:sp>
    </p:spTree>
    <p:extLst>
      <p:ext uri="{BB962C8B-B14F-4D97-AF65-F5344CB8AC3E}">
        <p14:creationId xmlns:p14="http://schemas.microsoft.com/office/powerpoint/2010/main" val="2823369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1797137"/>
            <a:ext cx="10399206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4.4.Для каждого представления построить SQL-запросы на выборку данных для формирования представления в соответствии с его структурой;</a:t>
            </a:r>
          </a:p>
          <a:p>
            <a:pPr indent="450000" algn="just">
              <a:spcAft>
                <a:spcPts val="1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4.5.Для каждого представления построить SQL-запросы для триггеров и-или хранимых процедур на вставку, изменение и удаление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899127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11383</TotalTime>
  <Words>511</Words>
  <Application>Microsoft Office PowerPoint</Application>
  <PresentationFormat>Широкоэкранный</PresentationFormat>
  <Paragraphs>63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quote-cjk-patch</vt:lpstr>
      <vt:lpstr>Calibri</vt:lpstr>
      <vt:lpstr>TT Norms Pro ExtraBold</vt:lpstr>
      <vt:lpstr>TT Norms Pro Light</vt:lpstr>
      <vt:lpstr>Arial</vt:lpstr>
      <vt:lpstr>Arial (Основной текст)</vt:lpstr>
      <vt:lpstr>Тема Office</vt:lpstr>
      <vt:lpstr>2_Тема Office</vt:lpstr>
      <vt:lpstr>Серверы баз данных</vt:lpstr>
      <vt:lpstr>Формирование аппаратных требований и схемы банка данных</vt:lpstr>
      <vt:lpstr>Постановка цели и задач</vt:lpstr>
      <vt:lpstr>План выполнения</vt:lpstr>
      <vt:lpstr>План выполнения</vt:lpstr>
      <vt:lpstr>План выполнения</vt:lpstr>
      <vt:lpstr>План выполнения</vt:lpstr>
      <vt:lpstr>План выполнения</vt:lpstr>
      <vt:lpstr>План выполнения</vt:lpstr>
    </vt:vector>
  </TitlesOfParts>
  <Company>Synergy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бренд и продажи через Instagram</dc:title>
  <dc:creator>Горина Екатерина Леонидовна</dc:creator>
  <cp:lastModifiedBy>Ауд-Нагатинская-836 Преподаватель</cp:lastModifiedBy>
  <cp:revision>476</cp:revision>
  <cp:lastPrinted>2021-11-03T09:18:53Z</cp:lastPrinted>
  <dcterms:created xsi:type="dcterms:W3CDTF">2018-06-25T11:25:43Z</dcterms:created>
  <dcterms:modified xsi:type="dcterms:W3CDTF">2025-10-13T11:36:20Z</dcterms:modified>
</cp:coreProperties>
</file>