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485" r:id="rId2"/>
    <p:sldId id="703" r:id="rId3"/>
    <p:sldId id="704" r:id="rId4"/>
    <p:sldId id="708" r:id="rId5"/>
    <p:sldId id="706" r:id="rId6"/>
  </p:sldIdLst>
  <p:sldSz cx="12192000" cy="6858000"/>
  <p:notesSz cx="6797675" cy="9928225"/>
  <p:embeddedFontLst>
    <p:embeddedFont>
      <p:font typeface="Arial Black" panose="020B0A04020102020204" pitchFamily="34" charset="0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TT Norms Pro" panose="02000503030000020003" charset="0"/>
      <p:regular r:id="rId13"/>
      <p:bold r:id="rId14"/>
      <p:italic r:id="rId15"/>
      <p:boldItalic r:id="rId16"/>
    </p:embeddedFont>
    <p:embeddedFont>
      <p:font typeface="TT Norms Pro ExtraBold" panose="02000503030000020004" charset="0"/>
      <p:bold r:id="rId17"/>
      <p:boldItalic r:id="rId18"/>
    </p:embeddedFont>
    <p:embeddedFont>
      <p:font typeface="TT Norms Pro Light" panose="02000503020000020003" charset="0"/>
      <p:regular r:id="rId19"/>
      <p: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щук Татьяна Павловна" initials="ЛТП" lastIdx="51" clrIdx="0">
    <p:extLst>
      <p:ext uri="{19B8F6BF-5375-455C-9EA6-DF929625EA0E}">
        <p15:presenceInfo xmlns:p15="http://schemas.microsoft.com/office/powerpoint/2012/main" userId="S-1-5-21-2542494797-2759003736-1566031932-694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FFF"/>
    <a:srgbClr val="FF0044"/>
    <a:srgbClr val="360556"/>
    <a:srgbClr val="FFF1C7"/>
    <a:srgbClr val="C7EED9"/>
    <a:srgbClr val="DAF7F4"/>
    <a:srgbClr val="FCE8DB"/>
    <a:srgbClr val="FEDACA"/>
    <a:srgbClr val="B4C7E7"/>
    <a:srgbClr val="7D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3" autoAdjust="0"/>
    <p:restoredTop sz="93372" autoAdjust="0"/>
  </p:normalViewPr>
  <p:slideViewPr>
    <p:cSldViewPr snapToGrid="0">
      <p:cViewPr varScale="1">
        <p:scale>
          <a:sx n="79" d="100"/>
          <a:sy n="79" d="100"/>
        </p:scale>
        <p:origin x="6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767E9-E000-4F0C-9208-10225D2495A0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7552"/>
            <a:ext cx="5438775" cy="3909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C8C4-AC90-4118-94BF-F90AB64BC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7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00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1163719" y="862305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8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24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23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6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96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2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45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5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07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orient="horz" pos="1207" userDrawn="1">
          <p15:clr>
            <a:srgbClr val="F26B43"/>
          </p15:clr>
        </p15:guide>
        <p15:guide id="3" pos="6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3"/>
          <p:cNvSpPr>
            <a:spLocks/>
          </p:cNvSpPr>
          <p:nvPr/>
        </p:nvSpPr>
        <p:spPr bwMode="auto">
          <a:xfrm>
            <a:off x="7215347" y="-1662457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8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1055687" y="2619513"/>
            <a:ext cx="5481300" cy="2260050"/>
            <a:chOff x="1055687" y="2825521"/>
            <a:chExt cx="4981666" cy="2054041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1055687" y="2825521"/>
              <a:ext cx="4446320" cy="1225126"/>
            </a:xfrm>
            <a:prstGeom prst="roundRect">
              <a:avLst>
                <a:gd name="adj" fmla="val 13262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Скругленный прямоугольник 15"/>
            <p:cNvSpPr/>
            <p:nvPr/>
          </p:nvSpPr>
          <p:spPr>
            <a:xfrm>
              <a:off x="1055688" y="3416128"/>
              <a:ext cx="4981665" cy="815454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1055688" y="3714066"/>
              <a:ext cx="1928580" cy="1165496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Прямоугольный треугольник 8"/>
            <p:cNvSpPr/>
            <p:nvPr/>
          </p:nvSpPr>
          <p:spPr>
            <a:xfrm rot="5400000">
              <a:off x="2984268" y="4231583"/>
              <a:ext cx="144168" cy="144168"/>
            </a:xfrm>
            <a:custGeom>
              <a:avLst/>
              <a:gdLst>
                <a:gd name="connsiteX0" fmla="*/ 0 w 1638096"/>
                <a:gd name="connsiteY0" fmla="*/ 1638096 h 1638096"/>
                <a:gd name="connsiteX1" fmla="*/ 0 w 1638096"/>
                <a:gd name="connsiteY1" fmla="*/ 0 h 1638096"/>
                <a:gd name="connsiteX2" fmla="*/ 1638096 w 1638096"/>
                <a:gd name="connsiteY2" fmla="*/ 1638096 h 1638096"/>
                <a:gd name="connsiteX3" fmla="*/ 0 w 1638096"/>
                <a:gd name="connsiteY3" fmla="*/ 1638096 h 1638096"/>
                <a:gd name="connsiteX0" fmla="*/ 0 w 1638096"/>
                <a:gd name="connsiteY0" fmla="*/ 1638096 h 1638100"/>
                <a:gd name="connsiteX1" fmla="*/ 0 w 1638096"/>
                <a:gd name="connsiteY1" fmla="*/ 0 h 1638100"/>
                <a:gd name="connsiteX2" fmla="*/ 1638096 w 1638096"/>
                <a:gd name="connsiteY2" fmla="*/ 1638096 h 1638100"/>
                <a:gd name="connsiteX3" fmla="*/ 0 w 1638096"/>
                <a:gd name="connsiteY3" fmla="*/ 1638096 h 1638100"/>
                <a:gd name="connsiteX0" fmla="*/ 6 w 1638102"/>
                <a:gd name="connsiteY0" fmla="*/ 1638096 h 1638101"/>
                <a:gd name="connsiteX1" fmla="*/ 6 w 1638102"/>
                <a:gd name="connsiteY1" fmla="*/ 0 h 1638101"/>
                <a:gd name="connsiteX2" fmla="*/ 1638102 w 1638102"/>
                <a:gd name="connsiteY2" fmla="*/ 1638096 h 1638101"/>
                <a:gd name="connsiteX3" fmla="*/ 6 w 1638102"/>
                <a:gd name="connsiteY3" fmla="*/ 1638096 h 16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102" h="1638101">
                  <a:moveTo>
                    <a:pt x="6" y="1638096"/>
                  </a:moveTo>
                  <a:lnTo>
                    <a:pt x="6" y="0"/>
                  </a:lnTo>
                  <a:cubicBezTo>
                    <a:pt x="-2602" y="720599"/>
                    <a:pt x="726310" y="1640704"/>
                    <a:pt x="1638102" y="1638096"/>
                  </a:cubicBezTo>
                  <a:lnTo>
                    <a:pt x="6" y="1638096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2" name="Freeform 23"/>
          <p:cNvSpPr>
            <a:spLocks/>
          </p:cNvSpPr>
          <p:nvPr/>
        </p:nvSpPr>
        <p:spPr bwMode="auto">
          <a:xfrm>
            <a:off x="7165274" y="-1328840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ACDFFF"/>
              </a:gs>
              <a:gs pos="88000">
                <a:srgbClr val="D1ED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12702167" y="1387373"/>
            <a:ext cx="5827232" cy="91681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6120 w 16974"/>
              <a:gd name="connsiteY0" fmla="*/ 1127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6120 w 16974"/>
              <a:gd name="connsiteY6" fmla="*/ 11271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6120" y="11271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6120" y="11271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13170399" y="-404827"/>
            <a:ext cx="6966348" cy="109603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3190" y="9712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3190" y="9712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3170399" y="-3100971"/>
            <a:ext cx="1977231" cy="3852493"/>
            <a:chOff x="7177556" y="-1516120"/>
            <a:chExt cx="5560847" cy="10834912"/>
          </a:xfrm>
        </p:grpSpPr>
        <p:sp>
          <p:nvSpPr>
            <p:cNvPr id="12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chemeClr val="bg1">
                <a:lumMod val="95000"/>
                <a:alpha val="4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528549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957373"/>
            <a:ext cx="2505825" cy="31104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96517" y="4267277"/>
            <a:ext cx="3315465" cy="754967"/>
          </a:xfrm>
          <a:prstGeom prst="roundRect">
            <a:avLst>
              <a:gd name="adj" fmla="val 15991"/>
            </a:avLst>
          </a:prstGeom>
          <a:solidFill>
            <a:srgbClr val="DBDBDB"/>
          </a:solidFill>
          <a:ln w="12700">
            <a:noFill/>
          </a:ln>
        </p:spPr>
        <p:txBody>
          <a:bodyPr wrap="square" lIns="216000" tIns="36000" rIns="0" bIns="0" rtlCol="0" anchor="ctr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1800" dirty="0">
                <a:solidFill>
                  <a:schemeClr val="tx1"/>
                </a:solidFill>
                <a:latin typeface="TT Norms Pro" panose="02000503030000020003" pitchFamily="2" charset="0"/>
                <a:ea typeface="+mn-ea"/>
              </a:rPr>
              <a:t>Тестирование информационных систем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070599" y="5866244"/>
            <a:ext cx="3079370" cy="672668"/>
          </a:xfrm>
          <a:prstGeom prst="roundRect">
            <a:avLst>
              <a:gd name="adj" fmla="val 22148"/>
            </a:avLst>
          </a:prstGeom>
          <a:solidFill>
            <a:srgbClr val="DBDBDB"/>
          </a:solidFill>
          <a:ln w="19050">
            <a:noFill/>
          </a:ln>
        </p:spPr>
        <p:txBody>
          <a:bodyPr vert="horz" wrap="square" lIns="21600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4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0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TT Norms Pro ExtraBold" panose="02000503030000020004" pitchFamily="2" charset="0"/>
              </a:rPr>
              <a:t>Авдеенков Владимир Александрович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Norms Pro ExtraBold" panose="02000503030000020004" pitchFamily="2" charset="0"/>
              <a:ea typeface="+mj-ea"/>
              <a:cs typeface="Gotham Pro Light" panose="020005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7321" y="2686754"/>
            <a:ext cx="5915801" cy="1576352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  <p:txBody>
          <a:bodyPr wrap="square" lIns="180000" tIns="108000" rIns="144000" bIns="108000" rtlCol="0" anchor="ctr">
            <a:spAutoFit/>
          </a:bodyPr>
          <a:lstStyle/>
          <a:p>
            <a:pPr lvl="0" algn="l">
              <a:lnSpc>
                <a:spcPct val="85000"/>
              </a:lnSpc>
              <a:defRPr/>
            </a:pP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Лабораторная работа №4</a:t>
            </a:r>
            <a:b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«Анализ и обеспечение обработки исключительных ситуаций», часть 2.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767" y="1101180"/>
            <a:ext cx="4536164" cy="57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9027CA-2B44-42C3-BA62-34BE7716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Цель занятия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936E40-750D-4A20-B28A-8FBC9C32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Получить навыки анализа и обеспечения обработки исключительных ситуаций.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897DFD-15F7-41C8-AF96-28248DE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55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9027CA-2B44-42C3-BA62-34BE7716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ru-RU" sz="3200" dirty="0"/>
              <a:t>Теоретические вопросы для самоподготовки</a:t>
            </a:r>
            <a:br>
              <a:rPr lang="ru-RU" sz="3200" dirty="0"/>
            </a:br>
            <a:r>
              <a:rPr lang="ru-RU" sz="3200" dirty="0"/>
              <a:t>(не нужно отвечать в отчёте)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936E40-750D-4A20-B28A-8FBC9C32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Исключения в С++ (и других языках).</a:t>
            </a:r>
          </a:p>
          <a:p>
            <a:pPr algn="just"/>
            <a:r>
              <a:rPr lang="ru-RU" sz="2000" dirty="0"/>
              <a:t>Установленные исключения.</a:t>
            </a:r>
          </a:p>
          <a:p>
            <a:pPr algn="just"/>
            <a:r>
              <a:rPr lang="ru-RU" sz="2000" dirty="0"/>
              <a:t>Спецификация исключения.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897DFD-15F7-41C8-AF96-28248DE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48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47DCF-0BDE-439B-9669-080019E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E7658-4D71-4947-A24F-941162BE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Написать программу, которая по вводимым с клавиатуры значениям А, В и С вычисляла бы значение выражения </a:t>
            </a:r>
            <a:r>
              <a:rPr lang="ru-RU" sz="2000" dirty="0" err="1"/>
              <a:t>acos</a:t>
            </a:r>
            <a:r>
              <a:rPr lang="ru-RU" sz="2000" dirty="0"/>
              <a:t>(A)+</a:t>
            </a:r>
            <a:r>
              <a:rPr lang="ru-RU" sz="2000" dirty="0" err="1"/>
              <a:t>sqrt</a:t>
            </a:r>
            <a:r>
              <a:rPr lang="ru-RU" sz="2000" dirty="0"/>
              <a:t>(</a:t>
            </a:r>
            <a:r>
              <a:rPr lang="ru-RU" sz="2000" dirty="0" err="1"/>
              <a:t>sin</a:t>
            </a:r>
            <a:r>
              <a:rPr lang="ru-RU" sz="2000" dirty="0"/>
              <a:t>(</a:t>
            </a:r>
            <a:r>
              <a:rPr lang="el-GR" sz="2000" dirty="0"/>
              <a:t>π</a:t>
            </a:r>
            <a:r>
              <a:rPr lang="ru-RU" sz="2000" dirty="0"/>
              <a:t>*B))/(</a:t>
            </a:r>
            <a:r>
              <a:rPr lang="ru-RU" sz="2000" dirty="0" err="1"/>
              <a:t>tan</a:t>
            </a:r>
            <a:r>
              <a:rPr lang="ru-RU" sz="2000" dirty="0"/>
              <a:t>(</a:t>
            </a:r>
            <a:r>
              <a:rPr lang="el-GR" sz="2000" dirty="0"/>
              <a:t>π</a:t>
            </a:r>
            <a:r>
              <a:rPr lang="ru-RU" sz="2000" dirty="0"/>
              <a:t>*C)+1);</a:t>
            </a:r>
          </a:p>
          <a:p>
            <a:pPr algn="just"/>
            <a:r>
              <a:rPr lang="ru-RU" sz="2000" dirty="0"/>
              <a:t>Понять, какие значения А, В и С дают какие исключения;</a:t>
            </a:r>
          </a:p>
          <a:p>
            <a:pPr algn="just"/>
            <a:r>
              <a:rPr lang="ru-RU" sz="2000" dirty="0"/>
              <a:t>При помощи </a:t>
            </a:r>
            <a:r>
              <a:rPr lang="en-US" sz="2000" dirty="0"/>
              <a:t>try</a:t>
            </a:r>
            <a:r>
              <a:rPr lang="ru-RU" sz="2000" dirty="0"/>
              <a:t> – </a:t>
            </a:r>
            <a:r>
              <a:rPr lang="en-US" sz="2000" dirty="0"/>
              <a:t>throw</a:t>
            </a:r>
            <a:r>
              <a:rPr lang="ru-RU" sz="2000" dirty="0"/>
              <a:t> – </a:t>
            </a:r>
            <a:r>
              <a:rPr lang="en-US" sz="2000" dirty="0"/>
              <a:t>catch</a:t>
            </a:r>
            <a:r>
              <a:rPr lang="ru-RU" sz="2000" dirty="0"/>
              <a:t> (или аналогичных операторов обработки исключений на других языках) составить программу так, чтобы при исключении каждого вида выводилось соответствующее сообщение;</a:t>
            </a:r>
          </a:p>
          <a:p>
            <a:pPr algn="just"/>
            <a:r>
              <a:rPr lang="ru-RU" sz="2000" dirty="0"/>
              <a:t>Составить отчёт о работе программы, прикрепив скриншоты её работы при правильном результате и при каждом из видов исключений.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B3E452-FCD8-4650-8378-122F09B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3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39027CA-2B44-42C3-BA62-34BE7716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/>
              <a:t>Список литературы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4936E40-750D-4A20-B28A-8FBC9C32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 err="1"/>
              <a:t>Липаев</a:t>
            </a:r>
            <a:r>
              <a:rPr lang="ru-RU" sz="2000" dirty="0"/>
              <a:t> В.В. Тестирование компонентов и комплексов программ [Электронный ресурс] : учебник / В.В. </a:t>
            </a:r>
            <a:r>
              <a:rPr lang="ru-RU" sz="2000" dirty="0" err="1"/>
              <a:t>Липаев</a:t>
            </a:r>
            <a:r>
              <a:rPr lang="ru-RU" sz="2000" dirty="0"/>
              <a:t>. – Электрон. текстовые данные. – М. : СИНТЕГ, 2010. – 393 c. – 978-5- 89638-115-0.</a:t>
            </a:r>
          </a:p>
          <a:p>
            <a:pPr algn="just"/>
            <a:r>
              <a:rPr lang="ru-RU" sz="2000" dirty="0"/>
              <a:t>Зоткин С.П. Программирование на языке высокого уровня C/C++ [Электронный ресурс] : конспект лекций / С.П. Зоткин. – 3-е изд. – Электрон. текстовые данные. – М. : МИСИ-МГСУ, ЭБС АСВ, 2018. – 140 c. – 978-5-7264-1810-0.</a:t>
            </a:r>
          </a:p>
          <a:p>
            <a:pPr algn="just"/>
            <a:r>
              <a:rPr lang="ru-RU" sz="2000" dirty="0"/>
              <a:t>Зубкова Т.М. Технология разработки программного обеспечения [Электронный ресурс] : учебное пособие / Т.М. Зубкова. – Электрон. текстовые данные. – Оренбург: Оренбургский государственный университет, ЭБС АСВ, 2017. – 469 c. – 978-5-7410-1785-2.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897DFD-15F7-41C8-AF96-28248DE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78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10604</TotalTime>
  <Words>298</Words>
  <Application>Microsoft Office PowerPoint</Application>
  <PresentationFormat>Широкоэкранный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TT Norms Pro</vt:lpstr>
      <vt:lpstr>TT Norms Pro Light</vt:lpstr>
      <vt:lpstr>Calibri</vt:lpstr>
      <vt:lpstr>Arial</vt:lpstr>
      <vt:lpstr>Arial Black</vt:lpstr>
      <vt:lpstr>TT Norms Pro ExtraBold</vt:lpstr>
      <vt:lpstr>Тема Office</vt:lpstr>
      <vt:lpstr>Лабораторная работа №4 «Анализ и обеспечение обработки исключительных ситуаций», часть 2.</vt:lpstr>
      <vt:lpstr>Цель занятия</vt:lpstr>
      <vt:lpstr>Теоретические вопросы для самоподготовки (не нужно отвечать в отчёте)</vt:lpstr>
      <vt:lpstr>Задание</vt:lpstr>
      <vt:lpstr>Список литературы</vt:lpstr>
    </vt:vector>
  </TitlesOfParts>
  <Company>Synergy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бренд и продажи через Instagram</dc:title>
  <dc:creator>Горина Екатерина Леонидовна</dc:creator>
  <cp:lastModifiedBy>Владимир Авдеенков</cp:lastModifiedBy>
  <cp:revision>488</cp:revision>
  <cp:lastPrinted>2021-11-03T09:18:53Z</cp:lastPrinted>
  <dcterms:created xsi:type="dcterms:W3CDTF">2018-06-25T11:25:43Z</dcterms:created>
  <dcterms:modified xsi:type="dcterms:W3CDTF">2025-10-13T05:22:28Z</dcterms:modified>
</cp:coreProperties>
</file>