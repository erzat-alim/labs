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29" r:id="rId2"/>
    <p:sldId id="425" r:id="rId3"/>
    <p:sldId id="431" r:id="rId4"/>
    <p:sldId id="273" r:id="rId5"/>
    <p:sldId id="433" r:id="rId6"/>
    <p:sldId id="494" r:id="rId7"/>
    <p:sldId id="495" r:id="rId8"/>
    <p:sldId id="496" r:id="rId9"/>
    <p:sldId id="497" r:id="rId10"/>
    <p:sldId id="499" r:id="rId11"/>
    <p:sldId id="498" r:id="rId12"/>
    <p:sldId id="500" r:id="rId13"/>
    <p:sldId id="501" r:id="rId14"/>
    <p:sldId id="502" r:id="rId15"/>
    <p:sldId id="503" r:id="rId16"/>
    <p:sldId id="504" r:id="rId17"/>
    <p:sldId id="505" r:id="rId18"/>
    <p:sldId id="507" r:id="rId19"/>
    <p:sldId id="506" r:id="rId20"/>
    <p:sldId id="508" r:id="rId21"/>
    <p:sldId id="509" r:id="rId22"/>
    <p:sldId id="510" r:id="rId23"/>
    <p:sldId id="511" r:id="rId24"/>
    <p:sldId id="512" r:id="rId25"/>
    <p:sldId id="513" r:id="rId26"/>
    <p:sldId id="514" r:id="rId27"/>
    <p:sldId id="515" r:id="rId28"/>
    <p:sldId id="516" r:id="rId29"/>
    <p:sldId id="517" r:id="rId30"/>
    <p:sldId id="518" r:id="rId31"/>
    <p:sldId id="519" r:id="rId32"/>
    <p:sldId id="520" r:id="rId33"/>
    <p:sldId id="521" r:id="rId34"/>
    <p:sldId id="522" r:id="rId35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DC3"/>
    <a:srgbClr val="00823B"/>
    <a:srgbClr val="DE0000"/>
    <a:srgbClr val="0062AC"/>
    <a:srgbClr val="5BD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4823" autoAdjust="0"/>
  </p:normalViewPr>
  <p:slideViewPr>
    <p:cSldViewPr>
      <p:cViewPr varScale="1">
        <p:scale>
          <a:sx n="111" d="100"/>
          <a:sy n="111" d="100"/>
        </p:scale>
        <p:origin x="165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8FCFE5F-97FC-4B09-AFED-545B9AE69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D288DA-E95B-4751-BDAF-B1AF3691ED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8465BBE-FDD2-4D06-9EA1-CBC1B18B7CF4}" type="datetimeFigureOut">
              <a:rPr lang="ru-RU"/>
              <a:pPr>
                <a:defRPr/>
              </a:pPr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5928FC-40D0-488B-9BB7-CC7D55EF75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6EF470-B7F0-46D6-A9D4-5F5D754A5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5EC0366-A151-497E-8CE8-B51EFD52EA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64701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BC6574C-F1C0-4A2D-95EE-003813649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AB6867-3243-48EF-8DDA-B93464DF5E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2AECDDF-910B-4637-9F49-B80BBD850515}" type="datetimeFigureOut">
              <a:rPr lang="ru-RU"/>
              <a:pPr>
                <a:defRPr/>
              </a:pPr>
              <a:t>17.02.2026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39837A83-4331-40B7-ABB6-5B923DF7B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BDE4048F-4561-43CD-95A8-842909E85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F75635-41A1-4563-8CAF-F06BEBB417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0D3C7D-DB34-4706-BC03-4335A1840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65EB20C-EB48-4885-B6EB-D81DD86074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23266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Она позволяет расположить дочерние элементы в несколько строк и несколько столбцов, не полагаясь на режим автоматического переноса (как в </a:t>
            </a:r>
            <a:r>
              <a:rPr lang="ru-RU" dirty="0" err="1"/>
              <a:t>WrapPanel</a:t>
            </a:r>
            <a:r>
              <a:rPr lang="ru-RU" dirty="0"/>
              <a:t>). Кроме того, предоставляется ряд интересных способов управления строками и столбцами. Работа с панелью </a:t>
            </a:r>
            <a:r>
              <a:rPr lang="ru-RU" dirty="0" err="1"/>
              <a:t>Grid</a:t>
            </a:r>
            <a:r>
              <a:rPr lang="ru-RU" dirty="0"/>
              <a:t> очень напоминает использование элемента TABLE в HTML.</a:t>
            </a: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Если явно не описать строки и столбцы, то по умолчанию сетка будет состоять всего из одной ячейки. А если не указать для дочерних элементов свойства </a:t>
            </a:r>
            <a:r>
              <a:rPr lang="ru-RU" dirty="0" err="1"/>
              <a:t>Grid.Row</a:t>
            </a:r>
            <a:r>
              <a:rPr lang="ru-RU" dirty="0"/>
              <a:t> и </a:t>
            </a:r>
            <a:r>
              <a:rPr lang="ru-RU" dirty="0" err="1"/>
              <a:t>Grid.Column</a:t>
            </a:r>
            <a:r>
              <a:rPr lang="ru-RU" dirty="0"/>
              <a:t>, то по умолчанию подразумевается значение 0. </a:t>
            </a:r>
            <a:endParaRPr lang="ru-RU" b="1" dirty="0"/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215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Сразу бросается в глаза недостаток: список онлайновых статей (</a:t>
            </a:r>
            <a:r>
              <a:rPr lang="ru-RU" dirty="0" err="1"/>
              <a:t>Online</a:t>
            </a:r>
            <a:r>
              <a:rPr lang="ru-RU" dirty="0"/>
              <a:t> </a:t>
            </a:r>
            <a:r>
              <a:rPr lang="ru-RU" dirty="0" err="1"/>
              <a:t>articles</a:t>
            </a:r>
            <a:r>
              <a:rPr lang="ru-RU" dirty="0"/>
              <a:t>) слишком мал. Кроме того, было бы лучше, если бы заголовок </a:t>
            </a:r>
            <a:r>
              <a:rPr lang="ru-RU" dirty="0" err="1"/>
              <a:t>StartPage</a:t>
            </a:r>
            <a:r>
              <a:rPr lang="ru-RU" dirty="0"/>
              <a:t> занимал всю ширину сетки. К счастью, обе проблемы легко решить с помощью дополнительных присоединенных свойств класса </a:t>
            </a:r>
            <a:r>
              <a:rPr lang="ru-RU" dirty="0" err="1"/>
              <a:t>Grid</a:t>
            </a:r>
            <a:r>
              <a:rPr lang="ru-RU" dirty="0"/>
              <a:t>: </a:t>
            </a:r>
            <a:r>
              <a:rPr lang="ru-RU" dirty="0" err="1"/>
              <a:t>RowSpan</a:t>
            </a:r>
            <a:r>
              <a:rPr lang="ru-RU" dirty="0"/>
              <a:t> и </a:t>
            </a:r>
            <a:r>
              <a:rPr lang="ru-RU" dirty="0" err="1"/>
              <a:t>ColumSpan</a:t>
            </a:r>
            <a:r>
              <a:rPr lang="ru-RU"/>
              <a:t>.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215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Сетка на рис. 5.11 все еще выглядит не вполне удовлетворительно, потому по умолчанию высоты всех строк и ширины всех столбцов равны. В идеале нужно было бы оставить больше места для списка онлайновых статей, а затем указав, что размеры первой строки и первого столбца должны соответствовать содержимому. Такой автоматический выбор размера достигается присваивания свойствам </a:t>
            </a:r>
            <a:r>
              <a:rPr lang="ru-RU" dirty="0" err="1"/>
              <a:t>Height</a:t>
            </a:r>
            <a:r>
              <a:rPr lang="ru-RU" dirty="0"/>
              <a:t> и </a:t>
            </a:r>
            <a:r>
              <a:rPr lang="ru-RU" dirty="0" err="1"/>
              <a:t>Width</a:t>
            </a:r>
            <a:r>
              <a:rPr lang="ru-RU" dirty="0"/>
              <a:t> соответственно в элементах </a:t>
            </a:r>
            <a:r>
              <a:rPr lang="ru-RU" dirty="0" err="1"/>
              <a:t>RowDefinition</a:t>
            </a:r>
            <a:r>
              <a:rPr lang="ru-RU" dirty="0"/>
              <a:t> и </a:t>
            </a:r>
            <a:r>
              <a:rPr lang="ru-RU" dirty="0" err="1"/>
              <a:t>ColumnDefinition</a:t>
            </a:r>
            <a:r>
              <a:rPr lang="ru-RU" dirty="0"/>
              <a:t> специального значения </a:t>
            </a:r>
            <a:r>
              <a:rPr lang="ru-RU" dirty="0" err="1"/>
              <a:t>Auto</a:t>
            </a:r>
            <a:r>
              <a:rPr lang="ru-RU" dirty="0"/>
              <a:t>, нечувствительного к регистру букв.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215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Сразу бросается в глаза недостаток: список онлайновых статей (</a:t>
            </a:r>
            <a:r>
              <a:rPr lang="ru-RU" dirty="0" err="1"/>
              <a:t>Online</a:t>
            </a:r>
            <a:r>
              <a:rPr lang="ru-RU" dirty="0"/>
              <a:t> </a:t>
            </a:r>
            <a:r>
              <a:rPr lang="ru-RU" dirty="0" err="1"/>
              <a:t>articles</a:t>
            </a:r>
            <a:r>
              <a:rPr lang="ru-RU" dirty="0"/>
              <a:t>) слишком мал. Кроме того, было бы лучше, если бы заголовок </a:t>
            </a:r>
            <a:r>
              <a:rPr lang="ru-RU" dirty="0" err="1"/>
              <a:t>StartPage</a:t>
            </a:r>
            <a:r>
              <a:rPr lang="ru-RU" dirty="0"/>
              <a:t> занимал всю ширину сетки. К счастью, обе проблемы легко решить с помощью дополнительных присоединенных свойств класса </a:t>
            </a:r>
            <a:r>
              <a:rPr lang="ru-RU" dirty="0" err="1"/>
              <a:t>Grid</a:t>
            </a:r>
            <a:r>
              <a:rPr lang="ru-RU" dirty="0"/>
              <a:t>: </a:t>
            </a:r>
            <a:r>
              <a:rPr lang="ru-RU" dirty="0" err="1"/>
              <a:t>RowSpan</a:t>
            </a:r>
            <a:r>
              <a:rPr lang="ru-RU" dirty="0"/>
              <a:t> и </a:t>
            </a:r>
            <a:r>
              <a:rPr lang="ru-RU" dirty="0" err="1"/>
              <a:t>ColumSpan</a:t>
            </a:r>
            <a:r>
              <a:rPr lang="ru-RU"/>
              <a:t>.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215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Сразу бросается в глаза недостаток: список онлайновых статей (</a:t>
            </a:r>
            <a:r>
              <a:rPr lang="ru-RU" dirty="0" err="1"/>
              <a:t>Online</a:t>
            </a:r>
            <a:r>
              <a:rPr lang="ru-RU" dirty="0"/>
              <a:t> </a:t>
            </a:r>
            <a:r>
              <a:rPr lang="ru-RU" dirty="0" err="1"/>
              <a:t>articles</a:t>
            </a:r>
            <a:r>
              <a:rPr lang="ru-RU" dirty="0"/>
              <a:t>) слишком мал. Кроме того, было бы лучше, если бы заголовок </a:t>
            </a:r>
            <a:r>
              <a:rPr lang="ru-RU" dirty="0" err="1"/>
              <a:t>StartPage</a:t>
            </a:r>
            <a:r>
              <a:rPr lang="ru-RU" dirty="0"/>
              <a:t> занимал всю ширину сетки. К счастью, обе проблемы легко решить с помощью дополнительных присоединенных свойств класса </a:t>
            </a:r>
            <a:r>
              <a:rPr lang="ru-RU" dirty="0" err="1"/>
              <a:t>Grid</a:t>
            </a:r>
            <a:r>
              <a:rPr lang="ru-RU" dirty="0"/>
              <a:t>: </a:t>
            </a:r>
            <a:r>
              <a:rPr lang="ru-RU" dirty="0" err="1"/>
              <a:t>RowSpan</a:t>
            </a:r>
            <a:r>
              <a:rPr lang="ru-RU" dirty="0"/>
              <a:t> и </a:t>
            </a:r>
            <a:r>
              <a:rPr lang="ru-RU" dirty="0" err="1"/>
              <a:t>ColumSpan</a:t>
            </a:r>
            <a:r>
              <a:rPr lang="ru-RU"/>
              <a:t>.</a:t>
            </a:r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215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1D27414-54B9-4A98-82CE-38D40E0C4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19455" r="7315" b="9544"/>
          <a:stretch>
            <a:fillRect/>
          </a:stretch>
        </p:blipFill>
        <p:spPr bwMode="auto">
          <a:xfrm>
            <a:off x="-15875" y="1773238"/>
            <a:ext cx="9196388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7D795E-886B-4928-98FC-CBFA37F5F35D}"/>
              </a:ext>
            </a:extLst>
          </p:cNvPr>
          <p:cNvSpPr/>
          <p:nvPr/>
        </p:nvSpPr>
        <p:spPr>
          <a:xfrm>
            <a:off x="-15875" y="1800225"/>
            <a:ext cx="9159875" cy="5084763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14CE86E-3EC9-46FA-9D76-BB34ECF5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47700"/>
            <a:ext cx="438626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E43C32-3F74-4882-9319-1C6EF339B7C8}"/>
              </a:ext>
            </a:extLst>
          </p:cNvPr>
          <p:cNvSpPr/>
          <p:nvPr/>
        </p:nvSpPr>
        <p:spPr>
          <a:xfrm>
            <a:off x="-15875" y="2133600"/>
            <a:ext cx="146050" cy="24479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707A1F-5255-4296-986A-B394FCFBBF89}"/>
              </a:ext>
            </a:extLst>
          </p:cNvPr>
          <p:cNvSpPr/>
          <p:nvPr/>
        </p:nvSpPr>
        <p:spPr>
          <a:xfrm>
            <a:off x="7380288" y="115888"/>
            <a:ext cx="1584325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990656" cy="245070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7304856" cy="913656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694EBD39-D313-4F99-9E2A-CF6297518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00D74-4BCC-47BB-B128-8C4A14FED7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9002E8E1-935F-41CF-A00F-7CECEF3C73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B05523D-BA13-4442-8DBB-EDC53BD370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046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4111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0.04688 0 " pathEditMode="relative" rAng="0" ptsTypes="AA">
                                      <p:cBhvr>
                                        <p:cTn id="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3" y="654038"/>
            <a:ext cx="8002587" cy="796950"/>
          </a:xfrm>
        </p:spPr>
        <p:txBody>
          <a:bodyPr/>
          <a:lstStyle>
            <a:lvl1pPr>
              <a:defRPr sz="360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rgbClr val="002060"/>
                </a:solidFill>
              </a:defRPr>
            </a:lvl1pPr>
            <a:lvl2pPr>
              <a:spcBef>
                <a:spcPts val="600"/>
              </a:spcBef>
              <a:defRPr>
                <a:solidFill>
                  <a:srgbClr val="002060"/>
                </a:solidFill>
              </a:defRPr>
            </a:lvl2pPr>
            <a:lvl3pPr>
              <a:spcBef>
                <a:spcPts val="600"/>
              </a:spcBef>
              <a:defRPr>
                <a:solidFill>
                  <a:srgbClr val="002060"/>
                </a:solidFill>
              </a:defRPr>
            </a:lvl3pPr>
            <a:lvl4pPr>
              <a:spcBef>
                <a:spcPts val="600"/>
              </a:spcBef>
              <a:defRPr>
                <a:solidFill>
                  <a:srgbClr val="002060"/>
                </a:solidFill>
              </a:defRPr>
            </a:lvl4pPr>
            <a:lvl5pPr>
              <a:spcBef>
                <a:spcPts val="600"/>
              </a:spcBef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4BCF00E5-165D-49D5-899E-DBC34FDFA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442913" cy="261938"/>
          </a:xfrm>
        </p:spPr>
        <p:txBody>
          <a:bodyPr/>
          <a:lstStyle>
            <a:lvl1pPr algn="ctr">
              <a:defRPr sz="16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4F2A1EA-F5C2-443C-9769-B807186FD15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097575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D1A25D54-0797-4785-8A51-5290E8E23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150" cy="756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38F77D-48A0-4C8C-A2DC-FCB3F8AA5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01713"/>
            <a:ext cx="26114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Дата 3">
            <a:extLst>
              <a:ext uri="{FF2B5EF4-FFF2-40B4-BE49-F238E27FC236}">
                <a16:creationId xmlns:a16="http://schemas.microsoft.com/office/drawing/2014/main" id="{F20EAB15-D69A-4358-B126-1E4A7E4E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1A496F3C-31C1-407D-9686-370B4CF4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3EF1C9EA-171D-4CE5-B559-7E9FC401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89FC806-2939-48AC-8427-6411BF22A59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17922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523795-12D4-497D-8EB1-B590E08C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6A9E87-BA71-4CAE-9A57-5E4B879E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DA3496-09B1-46CF-BE70-0C4A982E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2AB83-3E72-44FB-9C2B-ADF3D55DE1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07405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3FBEAF-F1A0-4D02-B9B4-5D4D7A48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B4FA878-F727-47A8-A9E4-A6E911BB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0E7BBFE-9386-45C3-B349-173F5F84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2B09D-51EA-4FCD-9571-5651689682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90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4394D6-B567-4EC2-987B-A0ED6A00E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93EAE4-6CB5-4927-B2C0-3382C693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A7FBFD-04E7-486E-9C82-91C08D94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2D845-2A7F-4B79-A00C-3875C0D3592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99096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3F8766-6DD6-466E-8320-68E48811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E20138-3152-4BE4-BB60-436C7427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7BED9E-6CE3-4327-8354-CDBC4653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D5B6F-90D1-4A9E-A125-38D1C64211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45549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2762BC-AD94-4A02-A809-C7849872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5E6BAF-EF67-4C31-B692-9BB6294E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7E919-6DC7-48A9-92A9-CB8FACC0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88748-973E-48A5-A0DE-9EA85E5773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65161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8149E9-139A-4AB9-B618-5735CC13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5AE2E1-072F-4561-A971-FF759EDF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1BB877-7D0D-4823-A108-7759C77A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637B9-BB3D-4DFF-A11B-EAE57DD608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94829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4F73BC-C5FE-41E5-90B7-A43BB5CC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0F9802-27C2-48D5-B09B-8AF8780B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433DFA-3A43-4B25-80DA-4E434ACE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1F5A5-ED98-44DC-A0E1-ABFC759086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28772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9B8E0B-6EED-4A74-8ED4-C584E39F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D97674-D5A3-4DFD-A1A7-B5153240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281BF-86AA-4F95-87CF-EA139422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72058-23A6-4A62-B417-F572DA873A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17069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325B7-3358-43CF-B7DF-EFBA3C74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84188"/>
            <a:ext cx="7940675" cy="896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BF6E5AE-4142-4FE2-B86C-8D11A5B47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80137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796D3-C5AB-47D9-ACF8-8680A5B93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738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CB1F7-7002-4888-B820-044E9AFF5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975" y="6183313"/>
            <a:ext cx="2592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66BA8664-1526-42E3-BC46-E6516883A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25" y="6381750"/>
            <a:ext cx="442913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1CF828C9-A85B-4DFA-AD91-BAB06C6D022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Прямоугольный треугольник 8">
            <a:extLst>
              <a:ext uri="{FF2B5EF4-FFF2-40B4-BE49-F238E27FC236}">
                <a16:creationId xmlns:a16="http://schemas.microsoft.com/office/drawing/2014/main" id="{65463543-DFC5-4542-A7DA-5627B8DA5065}"/>
              </a:ext>
            </a:extLst>
          </p:cNvPr>
          <p:cNvSpPr/>
          <p:nvPr/>
        </p:nvSpPr>
        <p:spPr>
          <a:xfrm rot="5400000">
            <a:off x="8027195" y="6403181"/>
            <a:ext cx="290512" cy="28892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69F0F13-AFB2-4D37-89BE-6A7DF410207A}"/>
              </a:ext>
            </a:extLst>
          </p:cNvPr>
          <p:cNvCxnSpPr/>
          <p:nvPr/>
        </p:nvCxnSpPr>
        <p:spPr>
          <a:xfrm flipH="1">
            <a:off x="9213850" y="557213"/>
            <a:ext cx="1008063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FBE710D-4CE2-4FBC-A15D-C9131BBF0261}"/>
              </a:ext>
            </a:extLst>
          </p:cNvPr>
          <p:cNvCxnSpPr/>
          <p:nvPr/>
        </p:nvCxnSpPr>
        <p:spPr>
          <a:xfrm flipH="1">
            <a:off x="9213850" y="773113"/>
            <a:ext cx="1008063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00C54FF-28EB-4117-8B80-D404C1F4EA69}"/>
              </a:ext>
            </a:extLst>
          </p:cNvPr>
          <p:cNvCxnSpPr/>
          <p:nvPr/>
        </p:nvCxnSpPr>
        <p:spPr>
          <a:xfrm flipH="1">
            <a:off x="9213850" y="1419225"/>
            <a:ext cx="1008063" cy="0"/>
          </a:xfrm>
          <a:prstGeom prst="line">
            <a:avLst/>
          </a:prstGeom>
          <a:ln w="127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41C3475-55C1-453D-8A25-4198294F09D5}"/>
              </a:ext>
            </a:extLst>
          </p:cNvPr>
          <p:cNvCxnSpPr/>
          <p:nvPr/>
        </p:nvCxnSpPr>
        <p:spPr>
          <a:xfrm flipH="1">
            <a:off x="9213850" y="1189038"/>
            <a:ext cx="1008063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3">
            <a:extLst>
              <a:ext uri="{FF2B5EF4-FFF2-40B4-BE49-F238E27FC236}">
                <a16:creationId xmlns:a16="http://schemas.microsoft.com/office/drawing/2014/main" id="{FE6A78E1-6AD9-4D0E-8072-85C645C7E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75" y="157163"/>
            <a:ext cx="1152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Уровень красной полоски при однострочном названии</a:t>
            </a:r>
          </a:p>
        </p:txBody>
      </p:sp>
      <p:sp>
        <p:nvSpPr>
          <p:cNvPr id="1037" name="TextBox 14">
            <a:extLst>
              <a:ext uri="{FF2B5EF4-FFF2-40B4-BE49-F238E27FC236}">
                <a16:creationId xmlns:a16="http://schemas.microsoft.com/office/drawing/2014/main" id="{619AABDB-9CB2-4E00-9854-58F8094A1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5288" y="739775"/>
            <a:ext cx="1152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823B"/>
                </a:solidFill>
              </a:rPr>
              <a:t>Уровень красной полоски при двустрочном  названии</a:t>
            </a:r>
          </a:p>
        </p:txBody>
      </p:sp>
      <p:sp>
        <p:nvSpPr>
          <p:cNvPr id="1038" name="TextBox 15">
            <a:extLst>
              <a:ext uri="{FF2B5EF4-FFF2-40B4-BE49-F238E27FC236}">
                <a16:creationId xmlns:a16="http://schemas.microsoft.com/office/drawing/2014/main" id="{E7702E6C-DDDA-4D17-828B-19F0BAA28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1950" y="1193800"/>
            <a:ext cx="1152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Уровни заголовков</a:t>
            </a:r>
          </a:p>
        </p:txBody>
      </p:sp>
      <p:sp>
        <p:nvSpPr>
          <p:cNvPr id="1039" name="TextBox 16">
            <a:extLst>
              <a:ext uri="{FF2B5EF4-FFF2-40B4-BE49-F238E27FC236}">
                <a16:creationId xmlns:a16="http://schemas.microsoft.com/office/drawing/2014/main" id="{D5FC2CAC-14FE-45B1-AD1E-4E0C5EA8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75" y="1476375"/>
            <a:ext cx="1152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823B"/>
                </a:solidFill>
              </a:rPr>
              <a:t>Уровни заголовков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8A8BCAF-A531-4FD5-975C-FC26990FFD32}"/>
              </a:ext>
            </a:extLst>
          </p:cNvPr>
          <p:cNvCxnSpPr/>
          <p:nvPr/>
        </p:nvCxnSpPr>
        <p:spPr>
          <a:xfrm flipV="1">
            <a:off x="10150475" y="773113"/>
            <a:ext cx="0" cy="17462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9A8AF2E-0080-4F3E-AFFB-582FD5DA1356}"/>
              </a:ext>
            </a:extLst>
          </p:cNvPr>
          <p:cNvCxnSpPr/>
          <p:nvPr/>
        </p:nvCxnSpPr>
        <p:spPr>
          <a:xfrm flipV="1">
            <a:off x="10221913" y="1401763"/>
            <a:ext cx="0" cy="17462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F86A1245-55EC-4A8A-B5D5-CB5772552CF7}"/>
              </a:ext>
            </a:extLst>
          </p:cNvPr>
          <p:cNvCxnSpPr>
            <a:stCxn id="1036" idx="1"/>
          </p:cNvCxnSpPr>
          <p:nvPr/>
        </p:nvCxnSpPr>
        <p:spPr>
          <a:xfrm>
            <a:off x="9286875" y="365125"/>
            <a:ext cx="0" cy="207963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C7B504E-4D7D-4295-BC56-B1CAC556568F}"/>
              </a:ext>
            </a:extLst>
          </p:cNvPr>
          <p:cNvCxnSpPr/>
          <p:nvPr/>
        </p:nvCxnSpPr>
        <p:spPr>
          <a:xfrm flipV="1">
            <a:off x="9290050" y="1193800"/>
            <a:ext cx="0" cy="219075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62DEE6A6-04F7-4655-86FA-A5760A81974A}"/>
              </a:ext>
            </a:extLst>
          </p:cNvPr>
          <p:cNvCxnSpPr/>
          <p:nvPr/>
        </p:nvCxnSpPr>
        <p:spPr>
          <a:xfrm>
            <a:off x="107950" y="-100013"/>
            <a:ext cx="576263" cy="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81B6598-4132-462B-B060-E102B48D40E1}"/>
              </a:ext>
            </a:extLst>
          </p:cNvPr>
          <p:cNvCxnSpPr/>
          <p:nvPr/>
        </p:nvCxnSpPr>
        <p:spPr>
          <a:xfrm flipV="1">
            <a:off x="684213" y="-387350"/>
            <a:ext cx="0" cy="315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TextBox 30">
            <a:extLst>
              <a:ext uri="{FF2B5EF4-FFF2-40B4-BE49-F238E27FC236}">
                <a16:creationId xmlns:a16="http://schemas.microsoft.com/office/drawing/2014/main" id="{BA62B20B-9F56-4EC6-90F6-1F8B19D8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6888" y="-279400"/>
            <a:ext cx="1152526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ПОЛЯ. Уровень текста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E4510BE6-14D7-4BE8-9C7C-5F651B2EA1CE}"/>
              </a:ext>
            </a:extLst>
          </p:cNvPr>
          <p:cNvCxnSpPr/>
          <p:nvPr/>
        </p:nvCxnSpPr>
        <p:spPr>
          <a:xfrm flipH="1">
            <a:off x="8710613" y="-100013"/>
            <a:ext cx="503237" cy="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B7B518A1-5F23-4338-8FB2-560DFC3FC59B}"/>
              </a:ext>
            </a:extLst>
          </p:cNvPr>
          <p:cNvCxnSpPr/>
          <p:nvPr/>
        </p:nvCxnSpPr>
        <p:spPr>
          <a:xfrm flipV="1">
            <a:off x="8710613" y="-387350"/>
            <a:ext cx="0" cy="315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TextBox 33">
            <a:extLst>
              <a:ext uri="{FF2B5EF4-FFF2-40B4-BE49-F238E27FC236}">
                <a16:creationId xmlns:a16="http://schemas.microsoft.com/office/drawing/2014/main" id="{9F302D5E-67F1-4EFD-B77B-E2F7619A5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3175" y="-330200"/>
            <a:ext cx="11509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ПОЛЯ. </a:t>
            </a:r>
          </a:p>
        </p:txBody>
      </p:sp>
      <p:pic>
        <p:nvPicPr>
          <p:cNvPr id="1050" name="Picture 3">
            <a:extLst>
              <a:ext uri="{FF2B5EF4-FFF2-40B4-BE49-F238E27FC236}">
                <a16:creationId xmlns:a16="http://schemas.microsoft.com/office/drawing/2014/main" id="{579478AB-72BD-4887-BC0F-4B090EEBF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266700"/>
            <a:ext cx="130016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Рисунок 28">
            <a:extLst>
              <a:ext uri="{FF2B5EF4-FFF2-40B4-BE49-F238E27FC236}">
                <a16:creationId xmlns:a16="http://schemas.microsoft.com/office/drawing/2014/main" id="{3D032CE2-4CB2-4498-BAAE-6B2AF559D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525" y="5951538"/>
            <a:ext cx="16287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ransition spd="med">
    <p:fade/>
  </p:transition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ru-RU" sz="3600" kern="1200" dirty="0">
          <a:solidFill>
            <a:srgbClr val="10253F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 Black" panose="020B0A04020102020204" pitchFamily="34" charset="0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»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D1FECB8D-245F-4BC5-A793-94529428395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2916238" y="6397625"/>
            <a:ext cx="3141662" cy="365125"/>
          </a:xfrm>
        </p:spPr>
        <p:txBody>
          <a:bodyPr/>
          <a:lstStyle/>
          <a:p>
            <a:pPr>
              <a:defRPr/>
            </a:pPr>
            <a:fld id="{EB2AE45C-56D5-4918-910B-9C7F047B45B2}" type="datetime4">
              <a:rPr lang="ru-RU" sz="160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pPr>
                <a:defRPr/>
              </a:pPr>
              <a:t>17 февраля 2026 г.</a:t>
            </a:fld>
            <a:endParaRPr lang="ru-RU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916832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0">
                <a:solidFill>
                  <a:schemeClr val="bg1"/>
                </a:solidFill>
              </a:rPr>
              <a:t>Разработка кода информационных систем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80A8BA4-E546-4842-8937-15AB887A6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4797151"/>
            <a:ext cx="8064896" cy="1600473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1800" dirty="0"/>
              <a:t>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/>
              <a:t>Лабораторное занятие №1									Департамент цифровой экономики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/>
              <a:t>				Зайцев Алексей Иванович, 					к.т.н., доцент.</a:t>
            </a:r>
          </a:p>
        </p:txBody>
      </p:sp>
    </p:spTree>
    <p:extLst>
      <p:ext uri="{BB962C8B-B14F-4D97-AF65-F5344CB8AC3E}">
        <p14:creationId xmlns:p14="http://schemas.microsoft.com/office/powerpoint/2010/main" val="4153288992"/>
      </p:ext>
    </p:extLst>
  </p:cSld>
  <p:clrMapOvr>
    <a:masterClrMapping/>
  </p:clrMapOvr>
  <p:transition spd="med" advTm="749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ъект 1">
            <a:extLst>
              <a:ext uri="{FF2B5EF4-FFF2-40B4-BE49-F238E27FC236}">
                <a16:creationId xmlns:a16="http://schemas.microsoft.com/office/drawing/2014/main" id="{BD2DFFD9-DF4C-473E-A359-1560D856B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2132856"/>
            <a:ext cx="8013700" cy="4021882"/>
          </a:xfrm>
        </p:spPr>
        <p:txBody>
          <a:bodyPr/>
          <a:lstStyle/>
          <a:p>
            <a:pPr marL="109538" indent="0" algn="ctr">
              <a:buNone/>
            </a:pPr>
            <a:r>
              <a:rPr lang="ru-RU" sz="2400" dirty="0"/>
              <a:t>ПЛАТФОРМА .NET ТЕХНОЛОГИЯ РАЗРАБОТКИ WINDOWS ПРИЛОЖЕНИЙ. </a:t>
            </a:r>
          </a:p>
          <a:p>
            <a:pPr marL="109538" indent="0" algn="ctr">
              <a:buNone/>
            </a:pPr>
            <a:r>
              <a:rPr lang="ru-RU" sz="2400" dirty="0"/>
              <a:t>ПРИЛОЖЕНИЯ </a:t>
            </a:r>
            <a:r>
              <a:rPr lang="en-US" sz="2400" dirty="0"/>
              <a:t>WPF </a:t>
            </a:r>
            <a:endParaRPr lang="ru-RU" sz="2400" dirty="0"/>
          </a:p>
          <a:p>
            <a:pPr marL="109538" indent="0" algn="ctr">
              <a:buNone/>
            </a:pPr>
            <a:r>
              <a:rPr lang="en-US" sz="2400" dirty="0"/>
              <a:t>(Windows Presentation Foundation)</a:t>
            </a:r>
            <a:r>
              <a:rPr lang="ru-RU" sz="2400" dirty="0"/>
              <a:t>. </a:t>
            </a:r>
            <a:endParaRPr lang="ru-RU" altLang="ru-RU" sz="2400" dirty="0"/>
          </a:p>
        </p:txBody>
      </p:sp>
      <p:sp>
        <p:nvSpPr>
          <p:cNvPr id="16387" name="Заголовок 2">
            <a:extLst>
              <a:ext uri="{FF2B5EF4-FFF2-40B4-BE49-F238E27FC236}">
                <a16:creationId xmlns:a16="http://schemas.microsoft.com/office/drawing/2014/main" id="{01FB6E59-1DF6-42EF-A120-002AA2454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54050"/>
            <a:ext cx="8013700" cy="1046758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altLang="ru-RU" dirty="0">
                <a:solidFill>
                  <a:srgbClr val="10253F"/>
                </a:solidFill>
                <a:effectLst/>
              </a:rPr>
              <a:t>Тема</a:t>
            </a:r>
            <a:r>
              <a:rPr lang="ru-RU" altLang="ru-RU" dirty="0">
                <a:solidFill>
                  <a:srgbClr val="10253F"/>
                </a:solidFill>
                <a:effectLst/>
              </a:rPr>
              <a:t> лабораторного</a:t>
            </a:r>
            <a:r>
              <a:rPr altLang="ru-RU" dirty="0">
                <a:solidFill>
                  <a:srgbClr val="10253F"/>
                </a:solidFill>
                <a:effectLst/>
              </a:rPr>
              <a:t> занятия</a:t>
            </a:r>
            <a:br>
              <a:rPr lang="ru-RU" altLang="ru-RU" dirty="0">
                <a:solidFill>
                  <a:srgbClr val="10253F"/>
                </a:solidFill>
                <a:effectLst/>
              </a:rPr>
            </a:br>
            <a:r>
              <a:rPr lang="ru-RU" altLang="ru-RU" dirty="0">
                <a:solidFill>
                  <a:srgbClr val="10253F"/>
                </a:solidFill>
                <a:effectLst/>
              </a:rPr>
              <a:t>№1 </a:t>
            </a:r>
            <a:r>
              <a:rPr altLang="ru-RU" dirty="0">
                <a:solidFill>
                  <a:srgbClr val="10253F"/>
                </a:solidFill>
                <a:effectLst/>
              </a:rPr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F0866-CE92-4454-9164-81EF2094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CAAF8-AB36-49D4-8FA3-B053442B32F7}" type="slidenum">
              <a:rPr lang="ru-RU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16869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ъект 1">
            <a:extLst>
              <a:ext uri="{FF2B5EF4-FFF2-40B4-BE49-F238E27FC236}">
                <a16:creationId xmlns:a16="http://schemas.microsoft.com/office/drawing/2014/main" id="{BD2DFFD9-DF4C-473E-A359-1560D856B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2132856"/>
            <a:ext cx="8013700" cy="4021882"/>
          </a:xfrm>
        </p:spPr>
        <p:txBody>
          <a:bodyPr/>
          <a:lstStyle/>
          <a:p>
            <a:pPr marL="109538" indent="0" algn="ctr">
              <a:buNone/>
            </a:pPr>
            <a:r>
              <a:rPr lang="ru-RU" sz="2400" dirty="0"/>
              <a:t>Изучить принципы применения </a:t>
            </a:r>
            <a:r>
              <a:rPr lang="ru-RU" sz="2400" b="1" dirty="0"/>
              <a:t>XAML</a:t>
            </a:r>
            <a:r>
              <a:rPr lang="ru-RU" sz="2400" dirty="0"/>
              <a:t>.</a:t>
            </a:r>
          </a:p>
          <a:p>
            <a:pPr marL="109538" indent="0" algn="ctr">
              <a:buNone/>
            </a:pPr>
            <a:r>
              <a:rPr lang="ru-RU" sz="2400" dirty="0"/>
              <a:t>Изучить основные элементы, отвечающие за компоновку окна приложения, и их свойства. </a:t>
            </a:r>
            <a:endParaRPr lang="ru-RU" altLang="ru-RU" sz="2400" dirty="0"/>
          </a:p>
        </p:txBody>
      </p:sp>
      <p:sp>
        <p:nvSpPr>
          <p:cNvPr id="16387" name="Заголовок 2">
            <a:extLst>
              <a:ext uri="{FF2B5EF4-FFF2-40B4-BE49-F238E27FC236}">
                <a16:creationId xmlns:a16="http://schemas.microsoft.com/office/drawing/2014/main" id="{01FB6E59-1DF6-42EF-A120-002AA2454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54050"/>
            <a:ext cx="8013700" cy="1046758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altLang="ru-RU" dirty="0">
                <a:solidFill>
                  <a:srgbClr val="10253F"/>
                </a:solidFill>
                <a:effectLst/>
              </a:rPr>
              <a:t>Цель</a:t>
            </a:r>
            <a:r>
              <a:rPr lang="ru-RU" altLang="ru-RU" dirty="0">
                <a:solidFill>
                  <a:srgbClr val="10253F"/>
                </a:solidFill>
                <a:effectLst/>
              </a:rPr>
              <a:t> лабораторного</a:t>
            </a:r>
            <a:r>
              <a:rPr altLang="ru-RU" dirty="0">
                <a:solidFill>
                  <a:srgbClr val="10253F"/>
                </a:solidFill>
                <a:effectLst/>
              </a:rPr>
              <a:t> занятия</a:t>
            </a:r>
            <a:br>
              <a:rPr lang="ru-RU" altLang="ru-RU" dirty="0">
                <a:solidFill>
                  <a:srgbClr val="10253F"/>
                </a:solidFill>
                <a:effectLst/>
              </a:rPr>
            </a:br>
            <a:r>
              <a:rPr lang="ru-RU" altLang="ru-RU" dirty="0">
                <a:solidFill>
                  <a:srgbClr val="10253F"/>
                </a:solidFill>
                <a:effectLst/>
              </a:rPr>
              <a:t>№1 </a:t>
            </a:r>
            <a:r>
              <a:rPr altLang="ru-RU" dirty="0">
                <a:solidFill>
                  <a:srgbClr val="10253F"/>
                </a:solidFill>
                <a:effectLst/>
              </a:rPr>
              <a:t>: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F0866-CE92-4454-9164-81EF2094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CAAF8-AB36-49D4-8FA3-B053442B32F7}" type="slidenum">
              <a:rPr lang="ru-RU"/>
              <a:pPr>
                <a:defRPr/>
              </a:pPr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046464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effectLst/>
              </a:rPr>
              <a:t>Задание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738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Создать приложения </a:t>
            </a:r>
            <a:r>
              <a:rPr lang="ru-RU" b="1" dirty="0" err="1"/>
              <a:t>windows</a:t>
            </a:r>
            <a:r>
              <a:rPr lang="ru-RU" b="1" dirty="0"/>
              <a:t> </a:t>
            </a:r>
            <a:r>
              <a:rPr lang="en-US" b="1" dirty="0" err="1"/>
              <a:t>wpf</a:t>
            </a:r>
            <a:r>
              <a:rPr lang="ru-RU" b="1" dirty="0"/>
              <a:t>, </a:t>
            </a:r>
            <a:r>
              <a:rPr lang="ru-RU" dirty="0"/>
              <a:t>и выполнить задания, которые приведены в разделе «Порядок выполнения» этой работы.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 algn="just">
              <a:buNone/>
            </a:pPr>
            <a:r>
              <a:rPr lang="ru-RU" dirty="0"/>
              <a:t>В названии приложения должны быть указаны:</a:t>
            </a:r>
          </a:p>
          <a:p>
            <a:pPr algn="just"/>
            <a:r>
              <a:rPr lang="ru-RU" dirty="0"/>
              <a:t>Ваша фамилия, </a:t>
            </a:r>
          </a:p>
          <a:p>
            <a:pPr algn="just"/>
            <a:r>
              <a:rPr lang="ru-RU" dirty="0"/>
              <a:t>номер группы.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Отчет должен содержать скриншот экрана среды разработки с выполненным заданием, содержащим макет окна и фрагмент кода </a:t>
            </a:r>
            <a:r>
              <a:rPr lang="en-US" dirty="0"/>
              <a:t>XAML</a:t>
            </a:r>
            <a:r>
              <a:rPr lang="ru-RU" dirty="0"/>
              <a:t> выполняющий это задание.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Теоретические сведения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73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При создании нового проекта WPF он уже содержит файлы с кодом </a:t>
            </a:r>
            <a:r>
              <a:rPr lang="ru-RU" dirty="0" err="1"/>
              <a:t>xaml</a:t>
            </a:r>
            <a:r>
              <a:rPr lang="ru-RU" dirty="0"/>
              <a:t>. Так, создаваемый по умолчанию в проекте файл </a:t>
            </a:r>
            <a:r>
              <a:rPr lang="ru-RU" i="1" dirty="0" err="1"/>
              <a:t>MainWindow.xaml</a:t>
            </a:r>
            <a:r>
              <a:rPr lang="ru-RU" dirty="0"/>
              <a:t>  будет иметь следующую разметку: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>
              <a:buNone/>
            </a:pPr>
            <a:r>
              <a:rPr lang="en-US" sz="1600" b="1" dirty="0"/>
              <a:t>&lt;Window x:Class="Lab1Atemp.MainWindow"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xmlns</a:t>
            </a:r>
            <a:r>
              <a:rPr lang="en-US" sz="1600" b="1" dirty="0"/>
              <a:t>="http://schemas.microsoft.com/</a:t>
            </a:r>
            <a:r>
              <a:rPr lang="en-US" sz="1600" b="1" dirty="0" err="1"/>
              <a:t>winfx</a:t>
            </a:r>
            <a:r>
              <a:rPr lang="en-US" sz="1600" b="1" dirty="0"/>
              <a:t>/2006/</a:t>
            </a:r>
            <a:r>
              <a:rPr lang="en-US" sz="1600" b="1" dirty="0" err="1"/>
              <a:t>xaml</a:t>
            </a:r>
            <a:r>
              <a:rPr lang="en-US" sz="1600" b="1" dirty="0"/>
              <a:t>/presentation"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xmlns:x</a:t>
            </a:r>
            <a:r>
              <a:rPr lang="en-US" sz="1600" b="1" dirty="0"/>
              <a:t>="http://schemas.microsoft.com/</a:t>
            </a:r>
            <a:r>
              <a:rPr lang="en-US" sz="1600" b="1" dirty="0" err="1"/>
              <a:t>winfx</a:t>
            </a:r>
            <a:r>
              <a:rPr lang="en-US" sz="1600" b="1" dirty="0"/>
              <a:t>/2006/</a:t>
            </a:r>
            <a:r>
              <a:rPr lang="en-US" sz="1600" b="1" dirty="0" err="1"/>
              <a:t>xaml</a:t>
            </a:r>
            <a:r>
              <a:rPr lang="en-US" sz="1600" b="1" dirty="0"/>
              <a:t>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xmlns:d</a:t>
            </a:r>
            <a:r>
              <a:rPr lang="en-US" sz="1600" b="1" dirty="0"/>
              <a:t>="http://schemas.microsoft.com/expression/blend/2008"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xmlns:mc</a:t>
            </a:r>
            <a:r>
              <a:rPr lang="en-US" sz="1600" b="1" dirty="0"/>
              <a:t>="http://schemas.openxmlformats.org/markup-compatibility/2006"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xmlns:local</a:t>
            </a:r>
            <a:r>
              <a:rPr lang="en-US" sz="1600" b="1" dirty="0"/>
              <a:t>="clr-namespace:Lab1Atemp"</a:t>
            </a:r>
          </a:p>
          <a:p>
            <a:pPr marL="0" indent="0">
              <a:buNone/>
            </a:pPr>
            <a:r>
              <a:rPr lang="en-US" sz="1600" b="1" dirty="0"/>
              <a:t>        </a:t>
            </a:r>
            <a:r>
              <a:rPr lang="en-US" sz="1600" b="1" dirty="0" err="1"/>
              <a:t>mc:Ignorable</a:t>
            </a:r>
            <a:r>
              <a:rPr lang="en-US" sz="1600" b="1" dirty="0"/>
              <a:t>="d"</a:t>
            </a:r>
          </a:p>
          <a:p>
            <a:pPr marL="0" indent="0">
              <a:buNone/>
            </a:pPr>
            <a:r>
              <a:rPr lang="en-US" sz="1600" b="1" dirty="0"/>
              <a:t>        Title="</a:t>
            </a:r>
            <a:r>
              <a:rPr lang="en-US" sz="1600" b="1" dirty="0" err="1"/>
              <a:t>MainWindow</a:t>
            </a:r>
            <a:r>
              <a:rPr lang="en-US" sz="1600" b="1" dirty="0"/>
              <a:t>" Height="450" Width="800"&gt;</a:t>
            </a:r>
          </a:p>
          <a:p>
            <a:pPr marL="0" indent="0">
              <a:buNone/>
            </a:pPr>
            <a:r>
              <a:rPr lang="en-US" sz="1600" b="1" dirty="0"/>
              <a:t>&lt;/Window&gt;</a:t>
            </a: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70761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1. Запустить приложение среды разработки программ </a:t>
            </a:r>
            <a:r>
              <a:rPr lang="en-US" dirty="0"/>
              <a:t>Microsoft Visual Studio.</a:t>
            </a:r>
          </a:p>
          <a:p>
            <a:pPr marL="0" indent="0">
              <a:buNone/>
            </a:pPr>
            <a:r>
              <a:rPr lang="ru-RU" dirty="0"/>
              <a:t>2.Выбрать шаблон проекта «Приложение </a:t>
            </a:r>
            <a:r>
              <a:rPr lang="en-US" dirty="0"/>
              <a:t>W</a:t>
            </a:r>
            <a:r>
              <a:rPr lang="ru-RU" dirty="0"/>
              <a:t>Р</a:t>
            </a:r>
            <a:r>
              <a:rPr lang="en-US" dirty="0"/>
              <a:t>F</a:t>
            </a:r>
            <a:r>
              <a:rPr lang="ru-RU" dirty="0"/>
              <a:t> </a:t>
            </a:r>
            <a:r>
              <a:rPr lang="en-US" dirty="0"/>
              <a:t>(.NET Framework) </a:t>
            </a:r>
            <a:r>
              <a:rPr lang="ru-RU" dirty="0"/>
              <a:t>в списке предложенных шаблонов -1, или в списке последних шаблонов -2, нажать «Далее» -3.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6</a:t>
            </a:fld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080394"/>
            <a:ext cx="5328592" cy="353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71867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ru-RU" dirty="0" err="1"/>
              <a:t>появивщемся</a:t>
            </a:r>
            <a:r>
              <a:rPr lang="ru-RU" dirty="0"/>
              <a:t> окне ввести имя проекта -1, и выбрать расположение проекта -2, нажать «Создать» -3.</a:t>
            </a:r>
          </a:p>
          <a:p>
            <a:pPr marL="0" indent="0">
              <a:buNone/>
            </a:pPr>
            <a:r>
              <a:rPr lang="ru-RU" dirty="0"/>
              <a:t>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7</a:t>
            </a:fld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81238"/>
            <a:ext cx="6408712" cy="4255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866149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196752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После создания проекта откроется визуальное представление окна программы</a:t>
            </a:r>
            <a:r>
              <a:rPr lang="en-US" dirty="0"/>
              <a:t> – 1</a:t>
            </a:r>
            <a:r>
              <a:rPr lang="ru-RU" dirty="0"/>
              <a:t>, окно с кодом на языке разметки </a:t>
            </a:r>
            <a:r>
              <a:rPr lang="ru-RU" b="1" dirty="0"/>
              <a:t>XAML (</a:t>
            </a:r>
            <a:r>
              <a:rPr lang="ru-RU" b="1" dirty="0" err="1"/>
              <a:t>eXtensible</a:t>
            </a:r>
            <a:r>
              <a:rPr lang="ru-RU" b="1" dirty="0"/>
              <a:t> </a:t>
            </a:r>
            <a:r>
              <a:rPr lang="ru-RU" b="1" dirty="0" err="1"/>
              <a:t>Application</a:t>
            </a:r>
            <a:r>
              <a:rPr lang="ru-RU" b="1" dirty="0"/>
              <a:t> </a:t>
            </a:r>
            <a:r>
              <a:rPr lang="ru-RU" b="1" dirty="0" err="1"/>
              <a:t>Markup</a:t>
            </a:r>
            <a:r>
              <a:rPr lang="ru-RU" b="1" dirty="0"/>
              <a:t> </a:t>
            </a:r>
            <a:r>
              <a:rPr lang="ru-RU" b="1" dirty="0" err="1"/>
              <a:t>Language</a:t>
            </a:r>
            <a:r>
              <a:rPr lang="ru-RU" b="1" dirty="0"/>
              <a:t>),</a:t>
            </a:r>
            <a:r>
              <a:rPr lang="ru-RU" dirty="0"/>
              <a:t> выполняющим прорисовку формы</a:t>
            </a:r>
            <a:r>
              <a:rPr lang="ru-RU" b="1" dirty="0"/>
              <a:t> </a:t>
            </a:r>
            <a:r>
              <a:rPr lang="ru-RU" dirty="0"/>
              <a:t>-2, также окно браузера проекта -3, и окно свойств – 4.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8</a:t>
            </a:fld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36912"/>
            <a:ext cx="6919421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02092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b="1" dirty="0"/>
              <a:t>Задание 1</a:t>
            </a:r>
            <a:r>
              <a:rPr lang="ru-RU" sz="1600" dirty="0"/>
              <a:t>. Работа с панелью элементов.</a:t>
            </a:r>
          </a:p>
          <a:p>
            <a:pPr marL="0" indent="0" algn="just">
              <a:buNone/>
            </a:pPr>
            <a:r>
              <a:rPr lang="ru-RU" sz="1600" dirty="0"/>
              <a:t>Открыть панель элементов - 1. Перетащить любой элемент на поле формы - 2(Например «</a:t>
            </a:r>
            <a:r>
              <a:rPr lang="en-US" sz="1600" dirty="0" err="1"/>
              <a:t>ListBox</a:t>
            </a:r>
            <a:r>
              <a:rPr lang="ru-RU" sz="1600" dirty="0"/>
              <a:t>», «</a:t>
            </a:r>
            <a:r>
              <a:rPr lang="en-US" sz="1600" dirty="0"/>
              <a:t>Menu</a:t>
            </a:r>
            <a:r>
              <a:rPr lang="ru-RU" sz="1600" dirty="0"/>
              <a:t>»). Найти в коде </a:t>
            </a:r>
            <a:r>
              <a:rPr lang="ru-RU" sz="1600" b="1" dirty="0"/>
              <a:t>XAML </a:t>
            </a:r>
            <a:r>
              <a:rPr lang="ru-RU" sz="1600" dirty="0"/>
              <a:t>теги, которые там появились после добавления элементов – 3. Изменить размеры элементов с помощью указателя мыши и в коде с помощью свойств </a:t>
            </a:r>
            <a:r>
              <a:rPr lang="en-US" sz="1600" b="1" dirty="0"/>
              <a:t>Height</a:t>
            </a:r>
            <a:r>
              <a:rPr lang="ru-RU" sz="1600" dirty="0"/>
              <a:t>, и </a:t>
            </a:r>
            <a:r>
              <a:rPr lang="en-US" sz="1600" b="1" dirty="0"/>
              <a:t>Width</a:t>
            </a:r>
            <a:r>
              <a:rPr lang="ru-RU" sz="1600" dirty="0"/>
              <a:t>, Добавить свойства </a:t>
            </a:r>
            <a:r>
              <a:rPr lang="en-US" sz="1600" b="1" dirty="0" err="1"/>
              <a:t>BorderBrush</a:t>
            </a:r>
            <a:r>
              <a:rPr lang="ru-RU" sz="1600" b="1" dirty="0"/>
              <a:t>, </a:t>
            </a:r>
            <a:r>
              <a:rPr lang="ru-RU" sz="1600" dirty="0"/>
              <a:t>указав цвет кисти  и настроить ширину окантовки с помощью свойства </a:t>
            </a:r>
            <a:r>
              <a:rPr lang="en-US" sz="1600" b="1" dirty="0" err="1"/>
              <a:t>BorderThickness</a:t>
            </a:r>
            <a:r>
              <a:rPr lang="ru-RU" sz="1600" b="1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9</a:t>
            </a:fld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284984"/>
            <a:ext cx="5848846" cy="3367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6216611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b="1" dirty="0"/>
              <a:t>Задание </a:t>
            </a:r>
            <a:r>
              <a:rPr lang="en-US" sz="1600" b="1" dirty="0"/>
              <a:t>2</a:t>
            </a:r>
            <a:r>
              <a:rPr lang="ru-RU" sz="1600" b="1" dirty="0"/>
              <a:t>. Размер, положение и преобразование элементов.</a:t>
            </a:r>
          </a:p>
          <a:p>
            <a:pPr marL="0" indent="0">
              <a:buNone/>
            </a:pPr>
            <a:r>
              <a:rPr lang="ru-RU" sz="1600" dirty="0"/>
              <a:t>Создать панель «</a:t>
            </a:r>
            <a:r>
              <a:rPr lang="en-US" sz="1600" dirty="0"/>
              <a:t>Canvas</a:t>
            </a:r>
            <a:r>
              <a:rPr lang="ru-RU" sz="1600" dirty="0"/>
              <a:t>»(«холст») для чего набрать в коде окна </a:t>
            </a:r>
          </a:p>
          <a:p>
            <a:pPr marL="0" indent="0">
              <a:buNone/>
            </a:pPr>
            <a:r>
              <a:rPr lang="en-US" sz="1600" b="1" dirty="0"/>
              <a:t>&lt;Canvas &gt;</a:t>
            </a:r>
            <a:endParaRPr lang="ru-RU" sz="1600" b="1" dirty="0"/>
          </a:p>
          <a:p>
            <a:pPr marL="0" indent="0">
              <a:buNone/>
            </a:pPr>
            <a:r>
              <a:rPr lang="en-US" sz="1600" b="1" dirty="0"/>
              <a:t>&lt;/Canvas&gt;</a:t>
            </a:r>
            <a:endParaRPr lang="ru-RU" sz="1600" b="1" dirty="0"/>
          </a:p>
          <a:p>
            <a:pPr marL="0" indent="0">
              <a:buNone/>
            </a:pPr>
            <a:r>
              <a:rPr lang="ru-RU" sz="1600" dirty="0"/>
              <a:t>Использовать свойство </a:t>
            </a:r>
            <a:r>
              <a:rPr lang="en-US" sz="1600" b="1" dirty="0"/>
              <a:t>Margin</a:t>
            </a:r>
            <a:r>
              <a:rPr lang="ru-RU" sz="1600" dirty="0"/>
              <a:t>, задав одно, два и четыре значения, </a:t>
            </a:r>
          </a:p>
          <a:p>
            <a:pPr marL="0" indent="0">
              <a:buNone/>
            </a:pPr>
            <a:r>
              <a:rPr lang="ru-RU" sz="1600" dirty="0"/>
              <a:t>Добавить на холст элемент «</a:t>
            </a:r>
            <a:r>
              <a:rPr lang="en-US" sz="1600" dirty="0"/>
              <a:t>Button</a:t>
            </a:r>
            <a:r>
              <a:rPr lang="ru-RU" sz="1600" dirty="0"/>
              <a:t>»(«кнопка»)</a:t>
            </a:r>
            <a:r>
              <a:rPr lang="en-US" sz="1600" dirty="0"/>
              <a:t>, </a:t>
            </a:r>
            <a:r>
              <a:rPr lang="ru-RU" sz="1600" dirty="0"/>
              <a:t>задав свойства</a:t>
            </a:r>
            <a:r>
              <a:rPr lang="en-US" sz="1600" dirty="0"/>
              <a:t> </a:t>
            </a:r>
            <a:r>
              <a:rPr lang="en-US" sz="1600" b="1" dirty="0"/>
              <a:t>Background</a:t>
            </a:r>
            <a:r>
              <a:rPr lang="ru-RU" sz="1600" b="1" dirty="0"/>
              <a:t>,</a:t>
            </a:r>
            <a:r>
              <a:rPr lang="en-US" sz="1600" dirty="0"/>
              <a:t> </a:t>
            </a:r>
            <a:r>
              <a:rPr lang="en-US" sz="1600" b="1" dirty="0" err="1"/>
              <a:t>BorderBrush</a:t>
            </a:r>
            <a:r>
              <a:rPr lang="ru-RU" sz="1600" b="1" dirty="0"/>
              <a:t>,</a:t>
            </a:r>
            <a:r>
              <a:rPr lang="en-US" sz="1600" b="1" dirty="0"/>
              <a:t> </a:t>
            </a:r>
            <a:r>
              <a:rPr lang="en-US" sz="1600" b="1" dirty="0" err="1"/>
              <a:t>BorderThickness</a:t>
            </a:r>
            <a:r>
              <a:rPr lang="ru-RU" sz="1600" b="1" dirty="0"/>
              <a:t>. </a:t>
            </a:r>
            <a:r>
              <a:rPr lang="ru-RU" sz="1600" dirty="0"/>
              <a:t>(Пример кода)</a:t>
            </a:r>
          </a:p>
          <a:p>
            <a:pPr marL="0" indent="0">
              <a:buNone/>
            </a:pPr>
            <a:endParaRPr lang="en-US" sz="1600" dirty="0"/>
          </a:p>
          <a:p>
            <a:pPr marL="400050" lvl="1" indent="0">
              <a:buNone/>
            </a:pPr>
            <a:r>
              <a:rPr lang="en-US" sz="1600" b="1" dirty="0"/>
              <a:t>&lt;Canvas M</a:t>
            </a:r>
            <a:r>
              <a:rPr lang="ru-RU" sz="1600" b="1" dirty="0"/>
              <a:t>а</a:t>
            </a:r>
            <a:r>
              <a:rPr lang="en-US" sz="1600" b="1" dirty="0" err="1"/>
              <a:t>rgin</a:t>
            </a:r>
            <a:r>
              <a:rPr lang="en-US" sz="1600" b="1" dirty="0"/>
              <a:t>="</a:t>
            </a:r>
            <a:r>
              <a:rPr lang="ru-RU" sz="1600" b="1" dirty="0"/>
              <a:t>...</a:t>
            </a:r>
            <a:r>
              <a:rPr lang="en-US" sz="1600" b="1" dirty="0"/>
              <a:t> "&gt;</a:t>
            </a:r>
          </a:p>
          <a:p>
            <a:pPr marL="400050" lvl="1" indent="0">
              <a:buNone/>
            </a:pPr>
            <a:r>
              <a:rPr lang="en-US" sz="1600" b="1" dirty="0"/>
              <a:t>        &lt;Button B</a:t>
            </a:r>
            <a:r>
              <a:rPr lang="ru-RU" sz="1600" b="1" dirty="0"/>
              <a:t>а</a:t>
            </a:r>
            <a:r>
              <a:rPr lang="en-US" sz="1600" b="1" dirty="0" err="1"/>
              <a:t>ckgr</a:t>
            </a:r>
            <a:r>
              <a:rPr lang="ru-RU" sz="1600" b="1" dirty="0"/>
              <a:t>о</a:t>
            </a:r>
            <a:r>
              <a:rPr lang="en-US" sz="1600" b="1" dirty="0"/>
              <a:t>und="</a:t>
            </a:r>
            <a:r>
              <a:rPr lang="ru-RU" sz="1600" b="1" dirty="0"/>
              <a:t> ... </a:t>
            </a:r>
            <a:r>
              <a:rPr lang="en-US" sz="1600" b="1" dirty="0"/>
              <a:t>" B</a:t>
            </a:r>
            <a:r>
              <a:rPr lang="ru-RU" sz="1600" b="1" dirty="0"/>
              <a:t>о</a:t>
            </a:r>
            <a:r>
              <a:rPr lang="en-US" sz="1600" b="1" dirty="0" err="1"/>
              <a:t>rd</a:t>
            </a:r>
            <a:r>
              <a:rPr lang="ru-RU" sz="1600" b="1" dirty="0"/>
              <a:t>е</a:t>
            </a:r>
            <a:r>
              <a:rPr lang="en-US" sz="1600" b="1" dirty="0"/>
              <a:t>rBrush="</a:t>
            </a:r>
            <a:r>
              <a:rPr lang="ru-RU" sz="1600" b="1" dirty="0"/>
              <a:t> ... </a:t>
            </a:r>
            <a:r>
              <a:rPr lang="en-US" sz="1600" b="1" dirty="0"/>
              <a:t>" B</a:t>
            </a:r>
            <a:r>
              <a:rPr lang="ru-RU" sz="1600" b="1" dirty="0"/>
              <a:t>о</a:t>
            </a:r>
            <a:r>
              <a:rPr lang="en-US" sz="1600" b="1" dirty="0" err="1"/>
              <a:t>rder</a:t>
            </a:r>
            <a:r>
              <a:rPr lang="ru-RU" sz="1600" b="1" dirty="0"/>
              <a:t>Т</a:t>
            </a:r>
            <a:r>
              <a:rPr lang="en-US" sz="1600" b="1" dirty="0" err="1"/>
              <a:t>hickness</a:t>
            </a:r>
            <a:r>
              <a:rPr lang="en-US" sz="1600" b="1" dirty="0"/>
              <a:t>="</a:t>
            </a:r>
            <a:r>
              <a:rPr lang="ru-RU" sz="1600" b="1" dirty="0"/>
              <a:t> ... </a:t>
            </a:r>
            <a:r>
              <a:rPr lang="en-US" sz="1600" b="1" dirty="0"/>
              <a:t>"&gt;</a:t>
            </a:r>
          </a:p>
          <a:p>
            <a:pPr marL="400050" lvl="1" indent="0">
              <a:buNone/>
            </a:pPr>
            <a:r>
              <a:rPr lang="en-US" sz="1600" b="1" dirty="0"/>
              <a:t> </a:t>
            </a:r>
            <a:r>
              <a:rPr lang="ru-RU" sz="1600" b="1" dirty="0"/>
              <a:t>	</a:t>
            </a:r>
            <a:r>
              <a:rPr lang="en-US" sz="1600" dirty="0"/>
              <a:t>Button</a:t>
            </a:r>
            <a:endParaRPr lang="ru-RU" sz="1600" dirty="0"/>
          </a:p>
          <a:p>
            <a:pPr marL="400050" lvl="1" indent="0">
              <a:buNone/>
            </a:pPr>
            <a:r>
              <a:rPr lang="ru-RU" sz="1600" b="1" dirty="0"/>
              <a:t>	</a:t>
            </a:r>
            <a:r>
              <a:rPr lang="en-US" sz="1600" b="1" dirty="0"/>
              <a:t>&lt;/Button&gt;</a:t>
            </a:r>
          </a:p>
          <a:p>
            <a:pPr marL="400050" lvl="1" indent="0">
              <a:buNone/>
            </a:pPr>
            <a:r>
              <a:rPr lang="en-US" sz="1600" b="1" dirty="0"/>
              <a:t>    &lt;/C</a:t>
            </a:r>
            <a:r>
              <a:rPr lang="ru-RU" sz="1600" b="1" dirty="0"/>
              <a:t>а</a:t>
            </a:r>
            <a:r>
              <a:rPr lang="en-US" sz="1600" b="1" dirty="0" err="1"/>
              <a:t>nvas</a:t>
            </a:r>
            <a:r>
              <a:rPr lang="en-US" sz="1600" b="1" dirty="0"/>
              <a:t>&gt;</a:t>
            </a:r>
            <a:endParaRPr lang="ru-RU" sz="1600" b="1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полученный результат сохранить в отчет в виде скриншота в отчет, сделать промежуточный вывод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9452287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Для кнопки добавить свойство </a:t>
            </a:r>
            <a:r>
              <a:rPr lang="en-US" sz="1600" b="1" dirty="0"/>
              <a:t>Padding</a:t>
            </a:r>
            <a:r>
              <a:rPr lang="ru-RU" sz="1600" dirty="0"/>
              <a:t>, с различным количеством и величинами значений, сделать скриншот. Добавить свойства задающие размер элемента </a:t>
            </a:r>
            <a:r>
              <a:rPr lang="en-US" sz="1600" b="1" dirty="0"/>
              <a:t>Width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b="1" dirty="0"/>
              <a:t>Height</a:t>
            </a:r>
            <a:r>
              <a:rPr lang="ru-RU" sz="1600" b="1" dirty="0"/>
              <a:t>, </a:t>
            </a:r>
            <a:r>
              <a:rPr lang="ru-RU" sz="1600" dirty="0"/>
              <a:t>изменить размеры и значения свойства </a:t>
            </a:r>
            <a:r>
              <a:rPr lang="en-US" sz="1600" b="1" dirty="0"/>
              <a:t>Padding</a:t>
            </a:r>
            <a:r>
              <a:rPr lang="ru-RU" sz="1600" b="1" dirty="0"/>
              <a:t>, </a:t>
            </a:r>
            <a:r>
              <a:rPr lang="ru-RU" sz="1600" dirty="0"/>
              <a:t>так чтобы надпись «</a:t>
            </a:r>
            <a:r>
              <a:rPr lang="en-US" sz="1600" b="1" dirty="0"/>
              <a:t>Button</a:t>
            </a:r>
            <a:r>
              <a:rPr lang="ru-RU" sz="1600" dirty="0"/>
              <a:t>» меняла свое положение на кнопке, а так же совсем исчезла, сделать вывод.</a:t>
            </a:r>
          </a:p>
          <a:p>
            <a:pPr marL="0" indent="0" algn="just">
              <a:buNone/>
            </a:pPr>
            <a:r>
              <a:rPr lang="ru-RU" sz="1600" dirty="0" err="1"/>
              <a:t>Здать</a:t>
            </a:r>
            <a:r>
              <a:rPr lang="ru-RU" sz="1600" dirty="0"/>
              <a:t> свойство </a:t>
            </a:r>
            <a:r>
              <a:rPr lang="ru-RU" sz="1600" b="1" dirty="0" err="1"/>
              <a:t>Visibility</a:t>
            </a:r>
            <a:r>
              <a:rPr lang="ru-RU" sz="1600" dirty="0"/>
              <a:t> для элемента кнопка</a:t>
            </a:r>
          </a:p>
          <a:p>
            <a:pPr marL="0" indent="0" algn="just">
              <a:buNone/>
            </a:pPr>
            <a:r>
              <a:rPr lang="ru-RU" sz="1600" dirty="0"/>
              <a:t>Тип свойства элемента </a:t>
            </a:r>
            <a:r>
              <a:rPr lang="ru-RU" sz="1600" b="1" dirty="0" err="1"/>
              <a:t>Visibility</a:t>
            </a:r>
            <a:r>
              <a:rPr lang="ru-RU" sz="1600" dirty="0"/>
              <a:t>: </a:t>
            </a:r>
          </a:p>
          <a:p>
            <a:pPr algn="just"/>
            <a:r>
              <a:rPr lang="ru-RU" sz="1600" dirty="0"/>
              <a:t> </a:t>
            </a:r>
            <a:r>
              <a:rPr lang="ru-RU" sz="1600" b="1" dirty="0" err="1"/>
              <a:t>Visible</a:t>
            </a:r>
            <a:r>
              <a:rPr lang="ru-RU" sz="1600" b="1" dirty="0"/>
              <a:t> </a:t>
            </a:r>
            <a:r>
              <a:rPr lang="ru-RU" sz="1600" dirty="0"/>
              <a:t>– элемент виден и участвует в компоновке. </a:t>
            </a:r>
          </a:p>
          <a:p>
            <a:pPr algn="just"/>
            <a:r>
              <a:rPr lang="ru-RU" sz="1600" dirty="0"/>
              <a:t> </a:t>
            </a:r>
            <a:r>
              <a:rPr lang="ru-RU" sz="1600" b="1" dirty="0" err="1"/>
              <a:t>Collapsed</a:t>
            </a:r>
            <a:r>
              <a:rPr lang="ru-RU" sz="1600" dirty="0"/>
              <a:t> – элемент не виден и не участвует в компоновке. </a:t>
            </a:r>
          </a:p>
          <a:p>
            <a:pPr algn="just"/>
            <a:r>
              <a:rPr lang="ru-RU" sz="1600" dirty="0"/>
              <a:t> </a:t>
            </a:r>
            <a:r>
              <a:rPr lang="ru-RU" sz="1600" b="1" dirty="0" err="1"/>
              <a:t>Hidden</a:t>
            </a:r>
            <a:r>
              <a:rPr lang="ru-RU" sz="1600" dirty="0"/>
              <a:t> – элемент не виден, но тем не менее участвует в компоновке</a:t>
            </a:r>
          </a:p>
          <a:p>
            <a:pPr marL="0" indent="0">
              <a:buNone/>
            </a:pPr>
            <a:r>
              <a:rPr lang="ru-RU" sz="1600" dirty="0"/>
              <a:t>полученный результат сохранить в отчет в виде скриншота в отчет, сделать промежуточный вывод</a:t>
            </a:r>
            <a:endParaRPr lang="en-US" sz="1600" dirty="0"/>
          </a:p>
          <a:p>
            <a:pPr marL="0" indent="0">
              <a:buNone/>
            </a:pPr>
            <a:r>
              <a:rPr lang="ru-RU" sz="1600" dirty="0"/>
              <a:t>Добавить в коде </a:t>
            </a:r>
            <a:r>
              <a:rPr lang="ru-RU" sz="1600" b="1" dirty="0"/>
              <a:t>XAML </a:t>
            </a:r>
            <a:r>
              <a:rPr lang="ru-RU" sz="1600" dirty="0"/>
              <a:t>для кнопки</a:t>
            </a:r>
            <a:r>
              <a:rPr lang="ru-RU" sz="1600" b="1" dirty="0"/>
              <a:t> </a:t>
            </a:r>
            <a:r>
              <a:rPr lang="ru-RU" sz="1600" dirty="0"/>
              <a:t>свойства </a:t>
            </a:r>
            <a:r>
              <a:rPr lang="en-US" sz="1600" b="1" dirty="0" err="1"/>
              <a:t>HorizontalContentAlignment</a:t>
            </a:r>
            <a:r>
              <a:rPr lang="ru-RU" sz="1600" dirty="0"/>
              <a:t>, </a:t>
            </a:r>
            <a:r>
              <a:rPr lang="en-US" sz="1600" b="1" dirty="0" err="1"/>
              <a:t>VerticalContentAlignment</a:t>
            </a:r>
            <a:r>
              <a:rPr lang="ru-RU" sz="1600" dirty="0"/>
              <a:t> и </a:t>
            </a:r>
            <a:r>
              <a:rPr lang="en-US" sz="1600" b="1" dirty="0" err="1"/>
              <a:t>FlowDirection</a:t>
            </a:r>
            <a:r>
              <a:rPr lang="ru-RU" sz="1600" dirty="0"/>
              <a:t>. Поменять значения этих свойств сделать скриншоты в отчете и выводы.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"</a:t>
            </a: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270601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преобразование </a:t>
            </a:r>
            <a:r>
              <a:rPr lang="ru-RU" sz="1600" b="1" dirty="0" err="1"/>
              <a:t>RenderTransform</a:t>
            </a:r>
            <a:r>
              <a:rPr lang="ru-RU" sz="1600" dirty="0"/>
              <a:t>. </a:t>
            </a:r>
          </a:p>
          <a:p>
            <a:pPr marL="0" indent="0" algn="just">
              <a:buNone/>
            </a:pPr>
            <a:r>
              <a:rPr lang="ru-RU" sz="1600" dirty="0"/>
              <a:t>Установить значения свойства </a:t>
            </a:r>
            <a:r>
              <a:rPr lang="ru-RU" sz="1600" b="1" dirty="0" err="1"/>
              <a:t>RenderTransformOrigin</a:t>
            </a:r>
            <a:r>
              <a:rPr lang="ru-RU" sz="1600" dirty="0"/>
              <a:t> и повернуть элемент на 45</a:t>
            </a:r>
            <a:r>
              <a:rPr lang="en-US" sz="1600" dirty="0"/>
              <a:t>º</a:t>
            </a:r>
            <a:r>
              <a:rPr lang="ru-RU" sz="1600" dirty="0"/>
              <a:t>. Добавить код представленный ниже сделать скриншот, изменить значения свойств </a:t>
            </a:r>
            <a:r>
              <a:rPr lang="ru-RU" sz="1600" b="1" dirty="0" err="1"/>
              <a:t>RenderTransformOrigin</a:t>
            </a:r>
            <a:r>
              <a:rPr lang="ru-RU" sz="1600" dirty="0"/>
              <a:t>  и </a:t>
            </a:r>
            <a:r>
              <a:rPr lang="en-US" sz="1600" b="1" dirty="0"/>
              <a:t>Rotated</a:t>
            </a:r>
            <a:r>
              <a:rPr lang="ru-RU" sz="1600" b="1" dirty="0"/>
              <a:t>, </a:t>
            </a:r>
            <a:r>
              <a:rPr lang="ru-RU" sz="1600" dirty="0"/>
              <a:t>сделать скриншот и вывод.</a:t>
            </a:r>
            <a:endParaRPr lang="ru-RU" sz="1600" b="1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12</a:t>
            </a:fld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8239125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98074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351309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Изучить встроенные преобразования </a:t>
            </a:r>
            <a:r>
              <a:rPr lang="en-US" sz="1600" b="1" dirty="0" err="1"/>
              <a:t>RotateTransform</a:t>
            </a:r>
            <a:r>
              <a:rPr lang="ru-RU" sz="1600" b="1" dirty="0"/>
              <a:t>, </a:t>
            </a:r>
            <a:r>
              <a:rPr lang="en-US" sz="1600" b="1" dirty="0" err="1"/>
              <a:t>ScaleTransform</a:t>
            </a:r>
            <a:r>
              <a:rPr lang="ru-RU" sz="1600" b="1" dirty="0"/>
              <a:t>, </a:t>
            </a:r>
            <a:r>
              <a:rPr lang="en-US" sz="1600" b="1" dirty="0" err="1"/>
              <a:t>SkewTransform</a:t>
            </a:r>
            <a:r>
              <a:rPr lang="ru-RU" sz="1600" b="1" dirty="0"/>
              <a:t>, </a:t>
            </a:r>
            <a:r>
              <a:rPr lang="en-US" sz="1600" b="1" dirty="0" err="1"/>
              <a:t>TranslateTransform</a:t>
            </a:r>
            <a:r>
              <a:rPr lang="en-US" sz="1600" b="1" dirty="0"/>
              <a:t> </a:t>
            </a:r>
            <a:endParaRPr lang="ru-RU" sz="1600" b="1" dirty="0"/>
          </a:p>
          <a:p>
            <a:pPr marL="0" indent="0" algn="just">
              <a:buNone/>
            </a:pPr>
            <a:endParaRPr lang="ru-RU" sz="1600" b="1" dirty="0"/>
          </a:p>
          <a:p>
            <a:pPr marL="0" indent="0" algn="just">
              <a:buNone/>
            </a:pPr>
            <a:r>
              <a:rPr lang="ru-RU" sz="1600" dirty="0"/>
              <a:t>Применить </a:t>
            </a:r>
            <a:r>
              <a:rPr lang="ru-RU" sz="1600" b="1" dirty="0" err="1"/>
              <a:t>RotateTramsform</a:t>
            </a:r>
            <a:r>
              <a:rPr lang="ru-RU" sz="1600" dirty="0"/>
              <a:t> к содержимому кнопок на панели</a:t>
            </a:r>
            <a:endParaRPr lang="ru-RU" sz="1600" b="1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13</a:t>
            </a:fld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77" y="2708920"/>
            <a:ext cx="782955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13874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преобразование</a:t>
            </a:r>
            <a:r>
              <a:rPr lang="ru-RU" sz="1600" b="1" dirty="0"/>
              <a:t> </a:t>
            </a:r>
            <a:r>
              <a:rPr lang="en-US" sz="1600" b="1" dirty="0" err="1"/>
              <a:t>ScaleTransform</a:t>
            </a:r>
            <a:endParaRPr lang="ru-RU" sz="1600" b="1" dirty="0"/>
          </a:p>
          <a:p>
            <a:pPr marL="0" indent="0" algn="just">
              <a:buNone/>
            </a:pPr>
            <a:r>
              <a:rPr lang="ru-RU" sz="1600" dirty="0"/>
              <a:t>У него есть четыре свойства типа </a:t>
            </a:r>
            <a:r>
              <a:rPr lang="ru-RU" sz="1600" dirty="0" err="1"/>
              <a:t>double</a:t>
            </a:r>
            <a:r>
              <a:rPr lang="ru-RU" sz="1600" dirty="0"/>
              <a:t>:</a:t>
            </a:r>
          </a:p>
          <a:p>
            <a:pPr algn="just"/>
            <a:r>
              <a:rPr lang="ru-RU" sz="1600" b="1" dirty="0" err="1"/>
              <a:t>ScaleX</a:t>
            </a:r>
            <a:r>
              <a:rPr lang="ru-RU" sz="1600" dirty="0"/>
              <a:t> - коэффициент изменения ширины элемента (по умолчанию 1) </a:t>
            </a:r>
          </a:p>
          <a:p>
            <a:pPr algn="just"/>
            <a:r>
              <a:rPr lang="ru-RU" sz="1600" b="1" dirty="0" err="1"/>
              <a:t>ScaleY</a:t>
            </a:r>
            <a:r>
              <a:rPr lang="ru-RU" sz="1600" dirty="0"/>
              <a:t> - коэффициент изменения высоты элемента (по умолчанию 1) </a:t>
            </a:r>
          </a:p>
          <a:p>
            <a:pPr algn="just"/>
            <a:r>
              <a:rPr lang="ru-RU" sz="1600" b="1" dirty="0" err="1"/>
              <a:t>CenterX</a:t>
            </a:r>
            <a:r>
              <a:rPr lang="ru-RU" sz="1600" dirty="0"/>
              <a:t> - начальная точка для масштабирования по горизонтали (по умолчанию 0) </a:t>
            </a:r>
          </a:p>
          <a:p>
            <a:pPr algn="just"/>
            <a:r>
              <a:rPr lang="ru-RU" sz="1600" b="1" dirty="0" err="1"/>
              <a:t>CenterY</a:t>
            </a:r>
            <a:r>
              <a:rPr lang="ru-RU" sz="1600" b="1" dirty="0"/>
              <a:t> </a:t>
            </a:r>
            <a:r>
              <a:rPr lang="ru-RU" sz="1600" dirty="0"/>
              <a:t>- начальная точка для масштабирования по вертикали (по умолчанию 0) </a:t>
            </a:r>
          </a:p>
          <a:p>
            <a:pPr marL="0" indent="0">
              <a:buNone/>
            </a:pPr>
            <a:r>
              <a:rPr lang="ru-RU" sz="1600" dirty="0"/>
              <a:t>Реализовать следующий код, сделать скриншоты и выводы.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40194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преобразование</a:t>
            </a:r>
            <a:r>
              <a:rPr lang="ru-RU" sz="1600" b="1" dirty="0"/>
              <a:t> </a:t>
            </a:r>
            <a:r>
              <a:rPr lang="en-US" sz="1600" b="1" dirty="0" err="1"/>
              <a:t>ScaleTransform</a:t>
            </a:r>
            <a:endParaRPr lang="ru-RU" sz="1600" b="1" dirty="0"/>
          </a:p>
          <a:p>
            <a:pPr marL="0" indent="0" algn="just">
              <a:buNone/>
            </a:pPr>
            <a:r>
              <a:rPr lang="ru-RU" sz="1600" dirty="0"/>
              <a:t> 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15</a:t>
            </a:fld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6"/>
            <a:ext cx="4514850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31390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51309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преобразование</a:t>
            </a:r>
            <a:r>
              <a:rPr lang="ru-RU" sz="1600" b="1" dirty="0"/>
              <a:t> </a:t>
            </a:r>
            <a:r>
              <a:rPr lang="ru-RU" sz="1600" b="1" dirty="0" err="1"/>
              <a:t>SkewTransform</a:t>
            </a:r>
            <a:r>
              <a:rPr lang="ru-RU" sz="1600" dirty="0"/>
              <a:t> </a:t>
            </a:r>
          </a:p>
          <a:p>
            <a:pPr marL="0" indent="0" algn="just">
              <a:buNone/>
            </a:pPr>
            <a:r>
              <a:rPr lang="ru-RU" sz="1600" dirty="0"/>
              <a:t>Наклоняет элемент в соответствии со значениями четырех свойств типа </a:t>
            </a:r>
            <a:r>
              <a:rPr lang="ru-RU" sz="1600" dirty="0" err="1"/>
              <a:t>double</a:t>
            </a:r>
            <a:r>
              <a:rPr lang="ru-RU" sz="1600" dirty="0"/>
              <a:t>:</a:t>
            </a:r>
          </a:p>
          <a:p>
            <a:pPr algn="just"/>
            <a:r>
              <a:rPr lang="ru-RU" sz="1600" b="1" dirty="0" err="1"/>
              <a:t>AngleX</a:t>
            </a:r>
            <a:r>
              <a:rPr lang="ru-RU" sz="1600" dirty="0"/>
              <a:t>– угол наклона по горизонтали (по умолчанию 0) </a:t>
            </a:r>
          </a:p>
          <a:p>
            <a:pPr algn="just"/>
            <a:r>
              <a:rPr lang="ru-RU" sz="1600" b="1" dirty="0" err="1"/>
              <a:t>AngleY</a:t>
            </a:r>
            <a:r>
              <a:rPr lang="ru-RU" sz="1600" b="1" dirty="0"/>
              <a:t>–угол</a:t>
            </a:r>
            <a:r>
              <a:rPr lang="ru-RU" sz="1600" dirty="0"/>
              <a:t> </a:t>
            </a:r>
            <a:r>
              <a:rPr lang="ru-RU" sz="1600" dirty="0" err="1"/>
              <a:t>наклонапо</a:t>
            </a:r>
            <a:r>
              <a:rPr lang="ru-RU" sz="1600" dirty="0"/>
              <a:t> вертикали (по умолчанию 0) </a:t>
            </a:r>
          </a:p>
          <a:p>
            <a:pPr algn="just"/>
            <a:r>
              <a:rPr lang="ru-RU" sz="1600" b="1" dirty="0" err="1"/>
              <a:t>CenterX</a:t>
            </a:r>
            <a:r>
              <a:rPr lang="ru-RU" sz="1600" dirty="0"/>
              <a:t>– начальная точка для наклона по горизонтали (по умолчанию 0) </a:t>
            </a:r>
          </a:p>
          <a:p>
            <a:pPr algn="just"/>
            <a:r>
              <a:rPr lang="ru-RU" sz="1600" b="1" dirty="0" err="1"/>
              <a:t>CenterY</a:t>
            </a:r>
            <a:r>
              <a:rPr lang="ru-RU" sz="1600" dirty="0"/>
              <a:t>– начальная точка для наклона по вертикали (по умолчанию 0) </a:t>
            </a:r>
          </a:p>
          <a:p>
            <a:pPr marL="0" indent="0" algn="just">
              <a:buNone/>
            </a:pPr>
            <a:endParaRPr lang="ru-RU" sz="1600" dirty="0"/>
          </a:p>
          <a:p>
            <a:pPr marL="0" indent="0" algn="just">
              <a:buNone/>
            </a:pPr>
            <a:r>
              <a:rPr lang="ru-RU" sz="1600" dirty="0"/>
              <a:t>Примерный результат 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16</a:t>
            </a:fld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499123"/>
            <a:ext cx="2664296" cy="2699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8118290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преобразование</a:t>
            </a:r>
            <a:r>
              <a:rPr lang="ru-RU" sz="1600" b="1" dirty="0"/>
              <a:t> </a:t>
            </a:r>
            <a:r>
              <a:rPr lang="ru-RU" sz="1600" dirty="0"/>
              <a:t> </a:t>
            </a:r>
            <a:r>
              <a:rPr lang="ru-RU" sz="1600" b="1" dirty="0" err="1"/>
              <a:t>TranslateTransform</a:t>
            </a:r>
            <a:r>
              <a:rPr lang="ru-RU" sz="1600" b="1" dirty="0"/>
              <a:t>, </a:t>
            </a:r>
            <a:r>
              <a:rPr lang="ru-RU" sz="1600" dirty="0"/>
              <a:t>которое просто параллельно переносит элемент в соответствии со значениями двух свойств типа </a:t>
            </a:r>
            <a:r>
              <a:rPr lang="ru-RU" sz="1600" dirty="0" err="1"/>
              <a:t>double</a:t>
            </a:r>
            <a:r>
              <a:rPr lang="ru-RU" sz="1600" dirty="0"/>
              <a:t>:</a:t>
            </a:r>
          </a:p>
          <a:p>
            <a:pPr algn="just"/>
            <a:r>
              <a:rPr lang="ru-RU" sz="1600" b="1" dirty="0"/>
              <a:t>X</a:t>
            </a:r>
            <a:r>
              <a:rPr lang="ru-RU" sz="1600" dirty="0"/>
              <a:t> - величина смещения по горизонтали (по умолчанию 0)</a:t>
            </a:r>
          </a:p>
          <a:p>
            <a:pPr algn="just"/>
            <a:r>
              <a:rPr lang="ru-RU" sz="1600" b="1" dirty="0"/>
              <a:t>Y-</a:t>
            </a:r>
            <a:r>
              <a:rPr lang="ru-RU" sz="1600" dirty="0"/>
              <a:t> величина смещения по вертикали (по умолчанию 0)</a:t>
            </a:r>
          </a:p>
          <a:p>
            <a:pPr marL="0" indent="0" algn="just">
              <a:buNone/>
            </a:pPr>
            <a:r>
              <a:rPr lang="ru-RU" sz="1600" dirty="0"/>
              <a:t> </a:t>
            </a:r>
            <a:r>
              <a:rPr lang="ru-RU" sz="1600" b="1" dirty="0" err="1"/>
              <a:t>TranslateTransform</a:t>
            </a:r>
            <a:r>
              <a:rPr lang="ru-RU" sz="1600" dirty="0"/>
              <a:t> не дает никакого эффекта, когда применяется в режиме </a:t>
            </a:r>
            <a:r>
              <a:rPr lang="ru-RU" sz="1600" b="1" dirty="0" err="1"/>
              <a:t>LayoutTransfоrm</a:t>
            </a:r>
            <a:r>
              <a:rPr lang="ru-RU" sz="1600" b="1" dirty="0"/>
              <a:t> !</a:t>
            </a:r>
            <a:r>
              <a:rPr lang="ru-RU" sz="1600" dirty="0"/>
              <a:t> </a:t>
            </a:r>
          </a:p>
          <a:p>
            <a:pPr marL="0" indent="0" algn="just">
              <a:buNone/>
            </a:pPr>
            <a:r>
              <a:rPr lang="ru-RU" sz="1600" dirty="0"/>
              <a:t>Но применение его в режиме </a:t>
            </a:r>
            <a:r>
              <a:rPr lang="ru-RU" sz="1600" b="1" dirty="0" err="1"/>
              <a:t>RenderTransform</a:t>
            </a:r>
            <a:r>
              <a:rPr lang="ru-RU" sz="1600" dirty="0"/>
              <a:t> удобный способ «подвинуть» элементы..</a:t>
            </a:r>
          </a:p>
          <a:p>
            <a:pPr marL="0" indent="0">
              <a:buNone/>
            </a:pPr>
            <a:r>
              <a:rPr lang="ru-RU" sz="1600" dirty="0"/>
              <a:t>Выполнить преобразования сделать скриншот и вывод.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861357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dirty="0"/>
              <a:t>Применить все три преобразования к кнопке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18</a:t>
            </a:fld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690691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310800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1600" b="1" dirty="0"/>
              <a:t>Задание 3. Изучить встроенные панели компоновки.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/>
              <a:t>• Панель </a:t>
            </a:r>
            <a:r>
              <a:rPr lang="en-US" sz="1600" b="1" dirty="0"/>
              <a:t>Canvas</a:t>
            </a:r>
            <a:r>
              <a:rPr lang="ru-RU" sz="1600" b="1" dirty="0"/>
              <a:t> </a:t>
            </a:r>
            <a:r>
              <a:rPr lang="en-US" sz="1600" b="1" dirty="0"/>
              <a:t>(</a:t>
            </a:r>
            <a:r>
              <a:rPr lang="ru-RU" sz="1600" b="1" dirty="0"/>
              <a:t>холст) </a:t>
            </a:r>
            <a:r>
              <a:rPr lang="ru-RU" sz="1600" dirty="0"/>
              <a:t>- самая простая панель.</a:t>
            </a:r>
            <a:r>
              <a:rPr lang="en-US" sz="1600" b="1" dirty="0"/>
              <a:t> </a:t>
            </a:r>
            <a:endParaRPr lang="ru-RU" sz="1600" b="1" dirty="0"/>
          </a:p>
          <a:p>
            <a:pPr marL="0" indent="0" algn="just">
              <a:buNone/>
            </a:pPr>
            <a:r>
              <a:rPr lang="ru-RU" sz="1600" dirty="0" err="1"/>
              <a:t>Canvas</a:t>
            </a:r>
            <a:r>
              <a:rPr lang="ru-RU" sz="1600" dirty="0"/>
              <a:t> поддерживает только «классическое» позиционирование элементов путем явного задания координат; </a:t>
            </a:r>
          </a:p>
          <a:p>
            <a:pPr marL="0" indent="0" algn="just">
              <a:buNone/>
            </a:pPr>
            <a:r>
              <a:rPr lang="ru-RU" sz="1600" dirty="0" err="1"/>
              <a:t>Canvas</a:t>
            </a:r>
            <a:r>
              <a:rPr lang="ru-RU" sz="1600" dirty="0"/>
              <a:t> позволяет задавать координаты относительно любого, а не только левого верхнего угла. </a:t>
            </a:r>
          </a:p>
          <a:p>
            <a:pPr marL="0" indent="0" algn="just">
              <a:buNone/>
            </a:pPr>
            <a:r>
              <a:rPr lang="ru-RU" sz="1600" dirty="0"/>
              <a:t>Позиционирование элемента на холсте осуществляется с помощью присоединенных свойств: </a:t>
            </a:r>
            <a:r>
              <a:rPr lang="ru-RU" sz="1600" b="1" dirty="0" err="1"/>
              <a:t>Left</a:t>
            </a:r>
            <a:r>
              <a:rPr lang="ru-RU" sz="1600" b="1" dirty="0"/>
              <a:t>, </a:t>
            </a:r>
            <a:r>
              <a:rPr lang="ru-RU" sz="1600" b="1" dirty="0" err="1"/>
              <a:t>Top</a:t>
            </a:r>
            <a:r>
              <a:rPr lang="ru-RU" sz="1600" b="1" dirty="0"/>
              <a:t>, </a:t>
            </a:r>
            <a:r>
              <a:rPr lang="ru-RU" sz="1600" b="1" dirty="0" err="1"/>
              <a:t>Right</a:t>
            </a:r>
            <a:r>
              <a:rPr lang="ru-RU" sz="1600" b="1" dirty="0"/>
              <a:t>, </a:t>
            </a:r>
            <a:r>
              <a:rPr lang="ru-RU" sz="1600" b="1" dirty="0" err="1"/>
              <a:t>Bottom</a:t>
            </a:r>
            <a:r>
              <a:rPr lang="ru-RU" sz="1600" b="1" dirty="0"/>
              <a:t>.</a:t>
            </a:r>
          </a:p>
          <a:p>
            <a:pPr marL="0" indent="0" algn="just">
              <a:buNone/>
            </a:pPr>
            <a:r>
              <a:rPr lang="ru-RU" sz="1600" dirty="0"/>
              <a:t>С панелью</a:t>
            </a:r>
            <a:r>
              <a:rPr lang="ru-RU" sz="1600" b="1" dirty="0"/>
              <a:t> </a:t>
            </a:r>
            <a:r>
              <a:rPr lang="en-US" sz="1600" b="1" dirty="0"/>
              <a:t>Canvas</a:t>
            </a:r>
            <a:r>
              <a:rPr lang="ru-RU" sz="1600" b="1" dirty="0"/>
              <a:t> </a:t>
            </a:r>
            <a:r>
              <a:rPr lang="ru-RU" sz="1600" dirty="0"/>
              <a:t>Вы работали в предыдущем задании.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27157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/>
              <a:t>Панель </a:t>
            </a:r>
            <a:r>
              <a:rPr lang="en-US" sz="1600" b="1" dirty="0" err="1"/>
              <a:t>StackPanel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 err="1"/>
              <a:t>StackPanel</a:t>
            </a:r>
            <a:r>
              <a:rPr lang="ru-RU" sz="1600" dirty="0"/>
              <a:t> - одна из немногих панелей, в которых вообще не определены собственные присоединенные свойства!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В отсутствие присоединенных свойств единственный способ организовать дочерние элементы воспользоваться свойством панели </a:t>
            </a:r>
            <a:r>
              <a:rPr lang="ru-RU" sz="1600" b="1" dirty="0" err="1"/>
              <a:t>Orientation</a:t>
            </a:r>
            <a:r>
              <a:rPr lang="ru-RU" sz="1600" dirty="0"/>
              <a:t> (типа </a:t>
            </a:r>
            <a:r>
              <a:rPr lang="ru-RU" sz="1600" b="1" dirty="0" err="1"/>
              <a:t>System.Windows.Controls.Orientation</a:t>
            </a:r>
            <a:r>
              <a:rPr lang="ru-RU" sz="1600" dirty="0"/>
              <a:t>), которое может принимать значение </a:t>
            </a:r>
            <a:r>
              <a:rPr lang="ru-RU" sz="1600" b="1" dirty="0" err="1"/>
              <a:t>Horizontal</a:t>
            </a:r>
            <a:r>
              <a:rPr lang="ru-RU" sz="1600" dirty="0"/>
              <a:t> или </a:t>
            </a:r>
            <a:r>
              <a:rPr lang="ru-RU" sz="1600" b="1" dirty="0" err="1"/>
              <a:t>Vertical</a:t>
            </a:r>
            <a:endParaRPr lang="en-US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Добавить 4…5 кнопок на панель </a:t>
            </a:r>
          </a:p>
          <a:p>
            <a:pPr marL="800100" lvl="2" indent="0">
              <a:buNone/>
            </a:pPr>
            <a:r>
              <a:rPr lang="en-US" sz="1600" b="1" dirty="0"/>
              <a:t> &lt;</a:t>
            </a:r>
            <a:r>
              <a:rPr lang="en-US" sz="1600" b="1" dirty="0" err="1"/>
              <a:t>StackPanel</a:t>
            </a:r>
            <a:r>
              <a:rPr lang="en-US" sz="1600" b="1" dirty="0"/>
              <a:t>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Content="Button"/&gt;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Content="Button"/&gt;</a:t>
            </a:r>
          </a:p>
          <a:p>
            <a:pPr marL="800100" lvl="2" indent="0">
              <a:buNone/>
            </a:pPr>
            <a:r>
              <a:rPr lang="ru-RU" sz="1600" b="1" dirty="0"/>
              <a:t>…</a:t>
            </a:r>
          </a:p>
          <a:p>
            <a:pPr marL="800100" lvl="2" indent="0">
              <a:buNone/>
            </a:pPr>
            <a:r>
              <a:rPr lang="en-US" sz="1600" b="1" dirty="0"/>
              <a:t>    &lt;/</a:t>
            </a:r>
            <a:r>
              <a:rPr lang="en-US" sz="1600" b="1" dirty="0" err="1"/>
              <a:t>StackPanel</a:t>
            </a:r>
            <a:r>
              <a:rPr lang="en-US" sz="1600" b="1" dirty="0"/>
              <a:t>&gt;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Изменить свойство </a:t>
            </a:r>
            <a:r>
              <a:rPr lang="ru-RU" sz="1600" b="1" dirty="0" err="1"/>
              <a:t>Orientation</a:t>
            </a:r>
            <a:r>
              <a:rPr lang="ru-RU" sz="1600" dirty="0"/>
              <a:t> </a:t>
            </a:r>
            <a:r>
              <a:rPr lang="en-US" sz="1600" b="1" dirty="0"/>
              <a:t>&lt;</a:t>
            </a:r>
            <a:r>
              <a:rPr lang="en-US" sz="1600" b="1" dirty="0" err="1"/>
              <a:t>StackPanel</a:t>
            </a:r>
            <a:r>
              <a:rPr lang="en-US" sz="1600" b="1" dirty="0"/>
              <a:t> Orientation="Horizontal"&gt;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Сделать скриншоты и выводы.</a:t>
            </a:r>
          </a:p>
          <a:p>
            <a:pPr marL="0" lvl="2" indent="0" algn="just">
              <a:buClr>
                <a:schemeClr val="tx2"/>
              </a:buClr>
              <a:buNone/>
            </a:pPr>
            <a:endParaRPr lang="ru-RU" sz="1600" dirty="0"/>
          </a:p>
          <a:p>
            <a:pPr marL="800100" lvl="2" indent="0">
              <a:buNone/>
            </a:pP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4234653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Повернуть две кнопки на </a:t>
            </a:r>
            <a:r>
              <a:rPr lang="en-US" sz="1600" dirty="0"/>
              <a:t>2</a:t>
            </a:r>
            <a:r>
              <a:rPr lang="ru-RU" sz="1600" dirty="0"/>
              <a:t>5</a:t>
            </a:r>
            <a:r>
              <a:rPr lang="en-US" sz="1600" dirty="0"/>
              <a:t>º</a:t>
            </a:r>
            <a:r>
              <a:rPr lang="ru-RU" sz="1600" dirty="0"/>
              <a:t> в режимах </a:t>
            </a:r>
            <a:r>
              <a:rPr lang="en-US" sz="1600" b="1" dirty="0" err="1"/>
              <a:t>RenderTransform</a:t>
            </a:r>
            <a:r>
              <a:rPr lang="ru-RU" sz="1600" b="1" dirty="0"/>
              <a:t> </a:t>
            </a:r>
            <a:r>
              <a:rPr lang="ru-RU" sz="1600" dirty="0"/>
              <a:t>и</a:t>
            </a:r>
            <a:r>
              <a:rPr lang="ru-RU" sz="1600" b="1" dirty="0"/>
              <a:t> </a:t>
            </a:r>
            <a:r>
              <a:rPr lang="en-US" sz="1600" b="1" dirty="0" err="1"/>
              <a:t>LayoutTransform</a:t>
            </a:r>
            <a:r>
              <a:rPr lang="ru-RU" sz="1600" dirty="0"/>
              <a:t>,  одну на 90</a:t>
            </a:r>
            <a:r>
              <a:rPr lang="en-US" sz="1600" dirty="0"/>
              <a:t>º</a:t>
            </a:r>
            <a:r>
              <a:rPr lang="ru-RU" sz="1600" dirty="0"/>
              <a:t> в режиме </a:t>
            </a:r>
            <a:r>
              <a:rPr lang="en-US" sz="1600" b="1" dirty="0" err="1"/>
              <a:t>LayoutTransform</a:t>
            </a:r>
            <a:r>
              <a:rPr lang="ru-RU" sz="1600" dirty="0"/>
              <a:t>. Листинг кода: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&lt;St</a:t>
            </a:r>
            <a:r>
              <a:rPr lang="ru-RU" sz="1600" b="1" dirty="0"/>
              <a:t>а</a:t>
            </a:r>
            <a:r>
              <a:rPr lang="en-US" sz="1600" b="1" dirty="0" err="1"/>
              <a:t>ckPanel</a:t>
            </a:r>
            <a:r>
              <a:rPr lang="en-US" sz="1600" b="1" dirty="0"/>
              <a:t> Orientation="Vertical" Margin="0 0 300 0"&gt;</a:t>
            </a:r>
          </a:p>
          <a:p>
            <a:pPr marL="0" indent="0">
              <a:buNone/>
            </a:pPr>
            <a:r>
              <a:rPr lang="en-US" sz="1600" b="1" dirty="0"/>
              <a:t>        &lt;Button  Content="1"/&gt;</a:t>
            </a:r>
          </a:p>
          <a:p>
            <a:pPr marL="0" indent="0">
              <a:buNone/>
            </a:pPr>
            <a:r>
              <a:rPr lang="en-US" sz="1600" b="1" dirty="0"/>
              <a:t>        &lt;Button Content="2" </a:t>
            </a:r>
            <a:r>
              <a:rPr lang="en-US" sz="1600" b="1" dirty="0" err="1">
                <a:solidFill>
                  <a:srgbClr val="618DC3"/>
                </a:solidFill>
              </a:rPr>
              <a:t>Panel.ZIndex</a:t>
            </a:r>
            <a:r>
              <a:rPr lang="en-US" sz="1600" b="1" dirty="0">
                <a:solidFill>
                  <a:srgbClr val="618DC3"/>
                </a:solidFill>
              </a:rPr>
              <a:t>="1"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    &lt;</a:t>
            </a:r>
            <a:r>
              <a:rPr lang="en-US" sz="1600" b="1" dirty="0" err="1"/>
              <a:t>Button.RenderTr</a:t>
            </a:r>
            <a:r>
              <a:rPr lang="ru-RU" sz="1600" b="1" dirty="0"/>
              <a:t>а</a:t>
            </a:r>
            <a:r>
              <a:rPr lang="en-US" sz="1600" b="1" dirty="0" err="1"/>
              <a:t>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        &lt;</a:t>
            </a:r>
            <a:r>
              <a:rPr lang="en-US" sz="1600" b="1" dirty="0" err="1"/>
              <a:t>RotateTransform</a:t>
            </a:r>
            <a:r>
              <a:rPr lang="en-US" sz="1600" b="1" dirty="0"/>
              <a:t> Angle="25"/&gt;</a:t>
            </a:r>
          </a:p>
          <a:p>
            <a:pPr marL="0" indent="0">
              <a:buNone/>
            </a:pPr>
            <a:r>
              <a:rPr lang="en-US" sz="1600" b="1" dirty="0"/>
              <a:t>            &lt;/</a:t>
            </a:r>
            <a:r>
              <a:rPr lang="en-US" sz="1600" b="1" dirty="0" err="1"/>
              <a:t>Button.RenderTransform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&lt;/Button&gt;</a:t>
            </a:r>
          </a:p>
          <a:p>
            <a:pPr marL="0" indent="0">
              <a:buNone/>
            </a:pPr>
            <a:r>
              <a:rPr lang="en-US" sz="1600" b="1" dirty="0"/>
              <a:t>        &lt;Button C</a:t>
            </a:r>
            <a:r>
              <a:rPr lang="ru-RU" sz="1600" b="1" dirty="0"/>
              <a:t>о</a:t>
            </a:r>
            <a:r>
              <a:rPr lang="en-US" sz="1600" b="1" dirty="0" err="1"/>
              <a:t>ntent</a:t>
            </a:r>
            <a:r>
              <a:rPr lang="en-US" sz="1600" b="1" dirty="0"/>
              <a:t>="3"/&gt;</a:t>
            </a:r>
          </a:p>
          <a:p>
            <a:pPr marL="0" indent="0">
              <a:buNone/>
            </a:pPr>
            <a:r>
              <a:rPr lang="en-US" sz="1600" b="1" dirty="0"/>
              <a:t>        &lt;Button C</a:t>
            </a:r>
            <a:r>
              <a:rPr lang="ru-RU" sz="1600" b="1" dirty="0"/>
              <a:t>о</a:t>
            </a:r>
            <a:r>
              <a:rPr lang="en-US" sz="1600" b="1" dirty="0" err="1"/>
              <a:t>ntent</a:t>
            </a:r>
            <a:r>
              <a:rPr lang="en-US" sz="1600" b="1" dirty="0"/>
              <a:t>="4"&gt;</a:t>
            </a:r>
          </a:p>
          <a:p>
            <a:pPr marL="0" indent="0">
              <a:buNone/>
            </a:pPr>
            <a:r>
              <a:rPr lang="en-US" sz="1600" b="1" dirty="0"/>
              <a:t>            &lt;</a:t>
            </a:r>
            <a:r>
              <a:rPr lang="en-US" sz="1600" b="1" dirty="0" err="1"/>
              <a:t>Button.LayoutTransform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        &lt;R</a:t>
            </a:r>
            <a:r>
              <a:rPr lang="ru-RU" sz="1600" b="1" dirty="0"/>
              <a:t>о</a:t>
            </a:r>
            <a:r>
              <a:rPr lang="en-US" sz="1600" b="1" dirty="0" err="1"/>
              <a:t>tateTransform</a:t>
            </a:r>
            <a:r>
              <a:rPr lang="en-US" sz="1600" b="1" dirty="0"/>
              <a:t> Angle="25"/&gt;</a:t>
            </a:r>
          </a:p>
          <a:p>
            <a:pPr marL="0" indent="0">
              <a:buNone/>
            </a:pPr>
            <a:r>
              <a:rPr lang="en-US" sz="1600" b="1" dirty="0"/>
              <a:t>            &lt;/</a:t>
            </a:r>
            <a:r>
              <a:rPr lang="en-US" sz="1600" b="1" dirty="0" err="1"/>
              <a:t>Button.LayoutTransform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&lt;/Butt</a:t>
            </a:r>
            <a:r>
              <a:rPr lang="ru-RU" sz="1600" b="1" dirty="0"/>
              <a:t>о</a:t>
            </a:r>
            <a:r>
              <a:rPr lang="en-US" sz="1600" b="1" dirty="0"/>
              <a:t>n&gt;</a:t>
            </a:r>
            <a:endParaRPr lang="ru-RU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</a:t>
            </a: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388859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Листинг кода  (продолжение):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&lt;Button </a:t>
            </a:r>
            <a:r>
              <a:rPr lang="en-US" sz="1600" b="1" dirty="0" err="1"/>
              <a:t>Cont</a:t>
            </a:r>
            <a:r>
              <a:rPr lang="ru-RU" sz="1600" b="1" dirty="0"/>
              <a:t>е</a:t>
            </a:r>
            <a:r>
              <a:rPr lang="en-US" sz="1600" b="1" dirty="0" err="1"/>
              <a:t>nt</a:t>
            </a:r>
            <a:r>
              <a:rPr lang="en-US" sz="1600" b="1" dirty="0"/>
              <a:t>="444444"&gt;</a:t>
            </a:r>
          </a:p>
          <a:p>
            <a:pPr marL="0" indent="0">
              <a:buNone/>
            </a:pPr>
            <a:r>
              <a:rPr lang="en-US" sz="1600" b="1" dirty="0"/>
              <a:t>            &lt;</a:t>
            </a:r>
            <a:r>
              <a:rPr lang="en-US" sz="1600" b="1" dirty="0" err="1"/>
              <a:t>Button.LayoutTransform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        &lt;</a:t>
            </a:r>
            <a:r>
              <a:rPr lang="en-US" sz="1600" b="1" dirty="0" err="1"/>
              <a:t>Rotat</a:t>
            </a:r>
            <a:r>
              <a:rPr lang="ru-RU" sz="1600" b="1" dirty="0"/>
              <a:t>е</a:t>
            </a:r>
            <a:r>
              <a:rPr lang="en-US" sz="1600" b="1" dirty="0"/>
              <a:t>Transform </a:t>
            </a:r>
            <a:r>
              <a:rPr lang="en-US" sz="1600" b="1" dirty="0" err="1"/>
              <a:t>Angl</a:t>
            </a:r>
            <a:r>
              <a:rPr lang="ru-RU" sz="1600" b="1" dirty="0"/>
              <a:t>е</a:t>
            </a:r>
            <a:r>
              <a:rPr lang="en-US" sz="1600" b="1" dirty="0"/>
              <a:t>="90"/&gt;</a:t>
            </a:r>
          </a:p>
          <a:p>
            <a:pPr marL="0" indent="0">
              <a:buNone/>
            </a:pPr>
            <a:r>
              <a:rPr lang="en-US" sz="1600" b="1" dirty="0"/>
              <a:t>            &lt;/</a:t>
            </a:r>
            <a:r>
              <a:rPr lang="en-US" sz="1600" b="1" dirty="0" err="1"/>
              <a:t>Button.LayoutTransform</a:t>
            </a:r>
            <a:r>
              <a:rPr lang="en-US" sz="1600" b="1" dirty="0"/>
              <a:t>&gt;</a:t>
            </a:r>
          </a:p>
          <a:p>
            <a:pPr marL="0" indent="0">
              <a:buNone/>
            </a:pPr>
            <a:r>
              <a:rPr lang="en-US" sz="1600" b="1" dirty="0"/>
              <a:t>        &lt;/Button&gt;</a:t>
            </a:r>
          </a:p>
          <a:p>
            <a:pPr marL="0" indent="0">
              <a:buNone/>
            </a:pPr>
            <a:r>
              <a:rPr lang="en-US" sz="1600" b="1" dirty="0"/>
              <a:t>        &lt;Button </a:t>
            </a:r>
            <a:r>
              <a:rPr lang="en-US" sz="1600" b="1" dirty="0" err="1"/>
              <a:t>Cont</a:t>
            </a:r>
            <a:r>
              <a:rPr lang="ru-RU" sz="1600" b="1" dirty="0"/>
              <a:t>е</a:t>
            </a:r>
            <a:r>
              <a:rPr lang="en-US" sz="1600" b="1" dirty="0" err="1"/>
              <a:t>nt</a:t>
            </a:r>
            <a:r>
              <a:rPr lang="en-US" sz="1600" b="1" dirty="0"/>
              <a:t>="5"/&gt;</a:t>
            </a:r>
          </a:p>
          <a:p>
            <a:pPr marL="0" indent="0">
              <a:buNone/>
            </a:pPr>
            <a:r>
              <a:rPr lang="en-US" sz="1600" b="1" dirty="0"/>
              <a:t>    &lt;/</a:t>
            </a:r>
            <a:r>
              <a:rPr lang="en-US" sz="1600" b="1" dirty="0" err="1"/>
              <a:t>StackPanel</a:t>
            </a:r>
            <a:r>
              <a:rPr lang="en-US" sz="1600" b="1" dirty="0"/>
              <a:t>&gt;</a:t>
            </a:r>
            <a:endParaRPr lang="ru-RU" sz="1600" b="1" dirty="0"/>
          </a:p>
          <a:p>
            <a:pPr marL="0" indent="0">
              <a:buNone/>
            </a:pPr>
            <a:endParaRPr lang="ru-RU" sz="1600" b="1" dirty="0"/>
          </a:p>
          <a:p>
            <a:pPr marL="0" indent="0">
              <a:buNone/>
            </a:pPr>
            <a:r>
              <a:rPr lang="ru-RU" sz="1600" dirty="0"/>
              <a:t>Сделать скриншот и выводы. Отметить влияние свойства </a:t>
            </a:r>
            <a:r>
              <a:rPr lang="en-US" sz="1600" b="1" dirty="0" err="1">
                <a:solidFill>
                  <a:srgbClr val="618DC3"/>
                </a:solidFill>
              </a:rPr>
              <a:t>Zindex</a:t>
            </a:r>
            <a:r>
              <a:rPr lang="ru-RU" sz="1600" b="1" dirty="0">
                <a:solidFill>
                  <a:srgbClr val="618DC3"/>
                </a:solidFill>
              </a:rPr>
              <a:t>.</a:t>
            </a:r>
            <a:endParaRPr lang="ru-RU" sz="1600" dirty="0"/>
          </a:p>
          <a:p>
            <a:pPr marL="0" lvl="2" indent="0" algn="just">
              <a:buClr>
                <a:schemeClr val="tx2"/>
              </a:buClr>
              <a:buNone/>
            </a:pPr>
            <a:endParaRPr lang="ru-RU" sz="1600" dirty="0"/>
          </a:p>
          <a:p>
            <a:pPr marL="800100" lvl="2" indent="0">
              <a:buNone/>
            </a:pP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415571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/>
              <a:t>Панель </a:t>
            </a:r>
            <a:r>
              <a:rPr lang="en-US" sz="1600" b="1" dirty="0" err="1"/>
              <a:t>WrapPanel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В классе </a:t>
            </a:r>
            <a:r>
              <a:rPr lang="ru-RU" sz="1600" b="1" dirty="0" err="1"/>
              <a:t>WrapPanel</a:t>
            </a:r>
            <a:r>
              <a:rPr lang="ru-RU" sz="1600" dirty="0"/>
              <a:t> определены три свойства, контролирующие его поведение:</a:t>
            </a:r>
          </a:p>
          <a:p>
            <a:pPr marL="342900" lvl="2" indent="-342900" algn="just">
              <a:buClr>
                <a:schemeClr val="tx2"/>
              </a:buClr>
            </a:pPr>
            <a:r>
              <a:rPr lang="ru-RU" sz="1600" b="1" dirty="0" err="1"/>
              <a:t>Orientation</a:t>
            </a:r>
            <a:r>
              <a:rPr lang="ru-RU" sz="1600" b="1" dirty="0"/>
              <a:t>  </a:t>
            </a:r>
          </a:p>
          <a:p>
            <a:pPr marL="342900" lvl="2" indent="-342900" algn="just">
              <a:buClr>
                <a:schemeClr val="tx2"/>
              </a:buClr>
            </a:pPr>
            <a:r>
              <a:rPr lang="ru-RU" sz="1600" b="1" dirty="0" err="1"/>
              <a:t>ItemHeight</a:t>
            </a:r>
            <a:r>
              <a:rPr lang="ru-RU" sz="1600" b="1" dirty="0"/>
              <a:t> </a:t>
            </a:r>
          </a:p>
          <a:p>
            <a:pPr marL="342900" lvl="2" indent="-342900" algn="just">
              <a:buClr>
                <a:schemeClr val="tx2"/>
              </a:buClr>
            </a:pPr>
            <a:r>
              <a:rPr lang="ru-RU" sz="1600" b="1" dirty="0" err="1"/>
              <a:t>ItemWidth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Создайте </a:t>
            </a:r>
            <a:r>
              <a:rPr lang="ru-RU" sz="1600" b="1" dirty="0" err="1"/>
              <a:t>WrapPanel</a:t>
            </a:r>
            <a:r>
              <a:rPr lang="ru-RU" sz="1600" dirty="0"/>
              <a:t>, добавьте 6 кнопок, измените значения для свойств </a:t>
            </a:r>
            <a:r>
              <a:rPr lang="en-US" sz="1600" b="1" dirty="0"/>
              <a:t>Orientation</a:t>
            </a:r>
            <a:r>
              <a:rPr lang="ru-RU" sz="1600" b="1" dirty="0"/>
              <a:t>, </a:t>
            </a:r>
            <a:r>
              <a:rPr lang="en-US" sz="1600" b="1" dirty="0"/>
              <a:t>Margin</a:t>
            </a:r>
            <a:r>
              <a:rPr lang="ru-RU" sz="1600" b="1" dirty="0"/>
              <a:t> </a:t>
            </a:r>
            <a:r>
              <a:rPr lang="ru-RU" sz="1600" dirty="0"/>
              <a:t>в листинге - </a:t>
            </a:r>
            <a:r>
              <a:rPr lang="en-US" sz="1600" b="1" dirty="0"/>
              <a:t>"</a:t>
            </a:r>
            <a:r>
              <a:rPr lang="ru-RU" sz="1600" b="1" dirty="0"/>
              <a:t>...</a:t>
            </a:r>
            <a:r>
              <a:rPr lang="en-US" sz="1600" b="1" dirty="0"/>
              <a:t>"</a:t>
            </a:r>
            <a:r>
              <a:rPr lang="ru-RU" sz="1600" b="1" dirty="0"/>
              <a:t>, </a:t>
            </a:r>
            <a:r>
              <a:rPr lang="ru-RU" sz="1600" dirty="0"/>
              <a:t>сделайте скриншоты и выводы.</a:t>
            </a:r>
          </a:p>
          <a:p>
            <a:pPr marL="800100" lvl="2" indent="0">
              <a:buNone/>
            </a:pPr>
            <a:r>
              <a:rPr lang="en-US" sz="1600" b="1" dirty="0"/>
              <a:t> &lt;</a:t>
            </a:r>
            <a:r>
              <a:rPr lang="en-US" sz="1600" b="1" dirty="0" err="1"/>
              <a:t>WrapPanel</a:t>
            </a:r>
            <a:r>
              <a:rPr lang="en-US" sz="1600" b="1" dirty="0"/>
              <a:t> Background="</a:t>
            </a:r>
            <a:r>
              <a:rPr lang="en-US" sz="1600" b="1" dirty="0" err="1"/>
              <a:t>LightBlue</a:t>
            </a:r>
            <a:r>
              <a:rPr lang="en-US" sz="1600" b="1" dirty="0"/>
              <a:t>" Margin="0 0 </a:t>
            </a:r>
            <a:r>
              <a:rPr lang="ru-RU" sz="1600" b="1" dirty="0"/>
              <a:t>…</a:t>
            </a:r>
            <a:r>
              <a:rPr lang="en-US" sz="1600" b="1" dirty="0"/>
              <a:t> 0"</a:t>
            </a:r>
          </a:p>
          <a:p>
            <a:pPr marL="800100" lvl="2" indent="0">
              <a:buNone/>
            </a:pPr>
            <a:r>
              <a:rPr lang="en-US" sz="1600" b="1" dirty="0"/>
              <a:t>        Orientation="</a:t>
            </a:r>
            <a:r>
              <a:rPr lang="ru-RU" sz="1600" b="1" dirty="0"/>
              <a:t>...</a:t>
            </a:r>
            <a:r>
              <a:rPr lang="en-US" sz="1600" b="1" dirty="0"/>
              <a:t>"&gt;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Content="1"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Content="2"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Content="3"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Content="4"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Content="5"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    &lt;Button Content="6" Width="100"/&gt;</a:t>
            </a:r>
          </a:p>
          <a:p>
            <a:pPr marL="800100" lvl="2" indent="0">
              <a:buNone/>
            </a:pPr>
            <a:r>
              <a:rPr lang="en-US" sz="1600" b="1" dirty="0"/>
              <a:t>    &lt;/</a:t>
            </a:r>
            <a:r>
              <a:rPr lang="en-US" sz="1600" b="1" dirty="0" err="1"/>
              <a:t>WrapPanel</a:t>
            </a:r>
            <a:r>
              <a:rPr lang="en-US" sz="1600" b="1" dirty="0"/>
              <a:t>&gt;</a:t>
            </a:r>
            <a:endParaRPr lang="ru-RU" sz="1600" b="1" dirty="0"/>
          </a:p>
          <a:p>
            <a:pPr marL="800100" lvl="2" indent="0">
              <a:buNone/>
            </a:pP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6167863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/>
              <a:t>Панель </a:t>
            </a:r>
            <a:r>
              <a:rPr lang="en-US" sz="1600" b="1" dirty="0" err="1"/>
              <a:t>DockPanel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В классе </a:t>
            </a:r>
            <a:r>
              <a:rPr lang="ru-RU" sz="1600" b="1" dirty="0" err="1"/>
              <a:t>DockPanel</a:t>
            </a:r>
            <a:r>
              <a:rPr lang="ru-RU" sz="1600" dirty="0"/>
              <a:t> определено присоединенное свойство </a:t>
            </a:r>
            <a:r>
              <a:rPr lang="ru-RU" sz="1600" b="1" dirty="0" err="1"/>
              <a:t>Dock</a:t>
            </a:r>
            <a:r>
              <a:rPr lang="ru-RU" sz="1600" dirty="0"/>
              <a:t> (типа </a:t>
            </a:r>
            <a:r>
              <a:rPr lang="ru-RU" sz="1600" b="1" dirty="0" err="1"/>
              <a:t>System.Windows.Controls.Dock</a:t>
            </a:r>
            <a:r>
              <a:rPr lang="ru-RU" sz="1600" dirty="0"/>
              <a:t>), с помощью которого дочерние элементы могут управлять своим положением. 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Оно может принимать четыре значения:</a:t>
            </a:r>
            <a:endParaRPr lang="en-US" sz="1600" dirty="0"/>
          </a:p>
          <a:p>
            <a:pPr marL="342900" lvl="2" indent="-342900" algn="just">
              <a:buClr>
                <a:schemeClr val="tx2"/>
              </a:buClr>
            </a:pPr>
            <a:r>
              <a:rPr lang="en-US" sz="1600" b="1" dirty="0"/>
              <a:t>Left</a:t>
            </a:r>
            <a:r>
              <a:rPr lang="en-US" sz="1600" dirty="0"/>
              <a:t> (</a:t>
            </a:r>
            <a:r>
              <a:rPr lang="ru-RU" sz="1600" dirty="0"/>
              <a:t>подразумевается по</a:t>
            </a:r>
            <a:r>
              <a:rPr lang="en-US" sz="1600" dirty="0"/>
              <a:t> </a:t>
            </a:r>
            <a:r>
              <a:rPr lang="ru-RU" sz="1600" dirty="0"/>
              <a:t>умолчанию)</a:t>
            </a:r>
          </a:p>
          <a:p>
            <a:pPr marL="342900" lvl="2" indent="-342900" algn="just">
              <a:buClr>
                <a:schemeClr val="tx2"/>
              </a:buClr>
            </a:pPr>
            <a:r>
              <a:rPr lang="en-US" sz="1600" b="1" dirty="0"/>
              <a:t>Top</a:t>
            </a:r>
            <a:r>
              <a:rPr lang="en-US" sz="1600" dirty="0"/>
              <a:t>,</a:t>
            </a:r>
            <a:endParaRPr lang="ru-RU" sz="1600" dirty="0"/>
          </a:p>
          <a:p>
            <a:pPr marL="342900" lvl="2" indent="-342900" algn="just">
              <a:buClr>
                <a:schemeClr val="tx2"/>
              </a:buClr>
            </a:pPr>
            <a:r>
              <a:rPr lang="en-US" sz="1600" b="1" dirty="0"/>
              <a:t>Right</a:t>
            </a:r>
            <a:r>
              <a:rPr lang="ru-RU" sz="1600" dirty="0"/>
              <a:t>,</a:t>
            </a:r>
          </a:p>
          <a:p>
            <a:pPr marL="342900" lvl="2" indent="-342900" algn="just">
              <a:buClr>
                <a:schemeClr val="tx2"/>
              </a:buClr>
            </a:pPr>
            <a:r>
              <a:rPr lang="en-US" sz="1600" b="1" dirty="0"/>
              <a:t>Bottom</a:t>
            </a:r>
            <a:r>
              <a:rPr lang="en-US" sz="1600" dirty="0"/>
              <a:t>.</a:t>
            </a:r>
            <a:endParaRPr lang="ru-RU" sz="1600" dirty="0"/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3932352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Создать пять кнопок на панели </a:t>
            </a:r>
            <a:r>
              <a:rPr lang="ru-RU" sz="1600" dirty="0" err="1"/>
              <a:t>DockPanel</a:t>
            </a:r>
            <a:r>
              <a:rPr lang="ru-RU" sz="1600" dirty="0"/>
              <a:t>. Порядок добавления кнопок на панель обозначен числом (и цветом)</a:t>
            </a:r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25</a:t>
            </a:fld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5"/>
            <a:ext cx="7163526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3522922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Изменить вид панели, когда у всех кнопок, кроме одной, явно задано значение </a:t>
            </a:r>
            <a:r>
              <a:rPr lang="ru-RU" sz="1600" b="1" dirty="0" err="1"/>
              <a:t>HorizontalAlignment</a:t>
            </a:r>
            <a:r>
              <a:rPr lang="ru-RU" sz="1600" dirty="0"/>
              <a:t> или </a:t>
            </a:r>
            <a:r>
              <a:rPr lang="ru-RU" sz="1600" b="1" dirty="0" err="1"/>
              <a:t>VerticalAlignment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26</a:t>
            </a:fld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33425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308659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Изменить порядок добавления кнопок (обозначенном числом и цветом)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27</a:t>
            </a:fld>
            <a:endParaRPr lang="ru-R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08" y="1988840"/>
            <a:ext cx="58578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375633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Создать </a:t>
            </a:r>
            <a:r>
              <a:rPr lang="ru-RU" sz="1600" dirty="0" err="1"/>
              <a:t>DоскРаnеl</a:t>
            </a:r>
            <a:r>
              <a:rPr lang="ru-RU" sz="1600" dirty="0"/>
              <a:t> с восьмью дочерними элементами — три слева, два сверху, два снизу и один заполняет оставшееся пространство. 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endParaRPr lang="en-US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28</a:t>
            </a:fld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368" y="2420888"/>
            <a:ext cx="663900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934061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568" y="1340768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600" b="1" dirty="0"/>
              <a:t>Панель </a:t>
            </a:r>
            <a:r>
              <a:rPr lang="en-US" sz="1600" b="1" dirty="0"/>
              <a:t>Grid </a:t>
            </a:r>
            <a:endParaRPr lang="ru-RU" sz="1600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sz="1600" dirty="0"/>
              <a:t>С помощью панели </a:t>
            </a:r>
            <a:r>
              <a:rPr lang="ru-RU" sz="1600" b="1" dirty="0" err="1"/>
              <a:t>Grid</a:t>
            </a:r>
            <a:r>
              <a:rPr lang="ru-RU" sz="1600" dirty="0"/>
              <a:t> сконструируем интерфейс, напоминающий начальную страницу старых версий </a:t>
            </a:r>
            <a:r>
              <a:rPr lang="ru-RU" sz="1600" dirty="0" err="1"/>
              <a:t>VisualStudio</a:t>
            </a:r>
            <a:endParaRPr lang="ru-RU" sz="16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29</a:t>
            </a:fld>
            <a:endParaRPr lang="ru-R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04864"/>
            <a:ext cx="7446303" cy="3929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1591312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Autofit/>
          </a:bodyPr>
          <a:lstStyle/>
          <a:p>
            <a:r>
              <a:rPr lang="ru-RU" sz="2800" dirty="0"/>
              <a:t>Компоновка с помощью панелей</a:t>
            </a:r>
            <a:endParaRPr lang="ru-RU" sz="2800" b="1"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4737840"/>
            <a:ext cx="8208267" cy="1272907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sz="1800" dirty="0"/>
              <a:t>Ячейки сетки можно оставлять пустыми, и, наоборот, в одной ячейке может находиться несколько элементов. В таком случае они просто располагаются один над другим в соответствии с заданным Z-порядком. Как и в случае панели </a:t>
            </a:r>
            <a:r>
              <a:rPr lang="ru-RU" sz="1800" dirty="0" err="1"/>
              <a:t>Canvas</a:t>
            </a:r>
            <a:r>
              <a:rPr lang="ru-RU" sz="1800" dirty="0"/>
              <a:t>, дочерние элементы, находящиеся в одной ячейке, не взаимодействуют между собой, а просто перекрывают друг друга. </a:t>
            </a:r>
            <a:endParaRPr lang="ru-RU" sz="1800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504751" cy="261938"/>
          </a:xfrm>
        </p:spPr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30</a:t>
            </a:fld>
            <a:endParaRPr lang="ru-RU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6552728" cy="339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1887324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Autofit/>
          </a:bodyPr>
          <a:lstStyle/>
          <a:p>
            <a:r>
              <a:rPr lang="ru-RU" sz="2800" dirty="0"/>
              <a:t>Компоновка с помощью панелей</a:t>
            </a:r>
            <a:endParaRPr lang="ru-RU" sz="2800" b="1"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По умолчанию свойства </a:t>
            </a:r>
            <a:r>
              <a:rPr lang="ru-RU" b="1" dirty="0" err="1"/>
              <a:t>RowSpan</a:t>
            </a:r>
            <a:r>
              <a:rPr lang="ru-RU" dirty="0"/>
              <a:t> и </a:t>
            </a:r>
            <a:r>
              <a:rPr lang="ru-RU" b="1" dirty="0" err="1"/>
              <a:t>ColumnSpan</a:t>
            </a:r>
            <a:r>
              <a:rPr lang="ru-RU" dirty="0"/>
              <a:t> равны </a:t>
            </a:r>
            <a:r>
              <a:rPr lang="ru-RU" b="1" dirty="0"/>
              <a:t>1</a:t>
            </a:r>
            <a:r>
              <a:rPr lang="ru-RU" dirty="0"/>
              <a:t>, но могут принимать любое значение, большее или равное </a:t>
            </a:r>
            <a:r>
              <a:rPr lang="ru-RU" b="1" dirty="0"/>
              <a:t>1</a:t>
            </a:r>
            <a:r>
              <a:rPr lang="ru-RU" dirty="0"/>
              <a:t>, - соответственно количество строк столбцов, занимаемых данной ячейкой. 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Если значение больше общего количества строк или столбцов, то ячейка занимает столько строк или столбцов сколько возможно. </a:t>
            </a:r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Таким образом, если добавить в последний элемент </a:t>
            </a:r>
            <a:r>
              <a:rPr lang="ru-RU" b="1" dirty="0" err="1"/>
              <a:t>GroupBox</a:t>
            </a:r>
            <a:r>
              <a:rPr lang="ru-RU" dirty="0"/>
              <a:t> в листинге атрибут:</a:t>
            </a:r>
          </a:p>
          <a:p>
            <a:pPr marL="914400" lvl="4" indent="0" algn="just">
              <a:buClr>
                <a:schemeClr val="tx2"/>
              </a:buClr>
              <a:buNone/>
            </a:pPr>
            <a:r>
              <a:rPr lang="en-US" b="1" dirty="0" err="1"/>
              <a:t>Grid.RowSpan</a:t>
            </a:r>
            <a:r>
              <a:rPr lang="en-US" b="1" dirty="0"/>
              <a:t>=“3” </a:t>
            </a:r>
            <a:endParaRPr lang="ru-RU" b="1" dirty="0"/>
          </a:p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а в элемент </a:t>
            </a:r>
            <a:r>
              <a:rPr lang="ru-RU" b="1" dirty="0" err="1"/>
              <a:t>Label</a:t>
            </a:r>
            <a:r>
              <a:rPr lang="en-US" b="1" dirty="0"/>
              <a:t> </a:t>
            </a:r>
            <a:r>
              <a:rPr lang="ru-RU" b="1" dirty="0"/>
              <a:t>-</a:t>
            </a:r>
            <a:r>
              <a:rPr lang="ru-RU" dirty="0"/>
              <a:t> атрибут </a:t>
            </a:r>
          </a:p>
          <a:p>
            <a:pPr marL="914400" lvl="4" indent="0" algn="just">
              <a:buClr>
                <a:schemeClr val="tx2"/>
              </a:buClr>
              <a:buNone/>
            </a:pPr>
            <a:r>
              <a:rPr lang="en-US" b="1" dirty="0" err="1"/>
              <a:t>Grid.ColumnSpan</a:t>
            </a:r>
            <a:r>
              <a:rPr lang="en-US" b="1" dirty="0"/>
              <a:t>=“2” </a:t>
            </a: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576759" cy="261938"/>
          </a:xfrm>
        </p:spPr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3409478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Autofit/>
          </a:bodyPr>
          <a:lstStyle/>
          <a:p>
            <a:r>
              <a:rPr lang="ru-RU" sz="2800" dirty="0"/>
              <a:t>Компоновка с помощью панелей</a:t>
            </a:r>
            <a:endParaRPr lang="ru-RU" sz="2800" b="1"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576759" cy="261938"/>
          </a:xfrm>
        </p:spPr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32</a:t>
            </a:fld>
            <a:endParaRPr lang="ru-RU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12776"/>
            <a:ext cx="6772275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4209539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Autofit/>
          </a:bodyPr>
          <a:lstStyle/>
          <a:p>
            <a:r>
              <a:rPr lang="ru-RU" sz="2800" dirty="0"/>
              <a:t>Компоновка с помощью панелей</a:t>
            </a:r>
            <a:endParaRPr lang="ru-RU" sz="2800" b="1"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После следующей модификации определений в листинге</a:t>
            </a: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576759" cy="261938"/>
          </a:xfrm>
        </p:spPr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33</a:t>
            </a:fld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70982"/>
            <a:ext cx="3429973" cy="2870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708920"/>
            <a:ext cx="5010150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4138011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0"/>
            <a:ext cx="8002587" cy="796925"/>
          </a:xfrm>
        </p:spPr>
        <p:txBody>
          <a:bodyPr>
            <a:noAutofit/>
          </a:bodyPr>
          <a:lstStyle/>
          <a:p>
            <a:r>
              <a:rPr lang="ru-RU" sz="2800" dirty="0"/>
              <a:t>Компоновка с помощью панелей</a:t>
            </a:r>
            <a:endParaRPr lang="ru-RU" sz="2800" b="1" dirty="0"/>
          </a:p>
        </p:txBody>
      </p:sp>
      <p:sp>
        <p:nvSpPr>
          <p:cNvPr id="17411" name="Объект 4">
            <a:extLst>
              <a:ext uri="{FF2B5EF4-FFF2-40B4-BE49-F238E27FC236}">
                <a16:creationId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08267" cy="4525963"/>
          </a:xfrm>
        </p:spPr>
        <p:txBody>
          <a:bodyPr/>
          <a:lstStyle/>
          <a:p>
            <a:pPr marL="0" lvl="2" indent="0" algn="just">
              <a:buClr>
                <a:schemeClr val="tx2"/>
              </a:buClr>
              <a:buNone/>
            </a:pPr>
            <a:r>
              <a:rPr lang="ru-RU" dirty="0"/>
              <a:t>Сделать скриншот полученного окна. Представить листинг кода разметки этого окна. Сделать выводы.</a:t>
            </a: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576759" cy="261938"/>
          </a:xfrm>
        </p:spPr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4607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Шаблон занятий Синерги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занятий Синергия" id="{63C78447-C2AE-4282-AD35-C5ACEC526D3A}" vid="{BC228943-5DCA-438F-A799-E7D7B42AA5A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занятий Синергия</Template>
  <TotalTime>9429</TotalTime>
  <Words>2212</Words>
  <Application>Microsoft Office PowerPoint</Application>
  <PresentationFormat>Экран (4:3)</PresentationFormat>
  <Paragraphs>242</Paragraphs>
  <Slides>34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Arial Black</vt:lpstr>
      <vt:lpstr>Calibri</vt:lpstr>
      <vt:lpstr>Шаблон занятий Синергия</vt:lpstr>
      <vt:lpstr>Презентация PowerPoint</vt:lpstr>
      <vt:lpstr>Тема лабораторного занятия №1  </vt:lpstr>
      <vt:lpstr>Цель лабораторного занятия №1 : </vt:lpstr>
      <vt:lpstr>Задание</vt:lpstr>
      <vt:lpstr>Теоретические сведения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Компоновка с помощью панелей</vt:lpstr>
      <vt:lpstr>Компоновка с помощью панелей</vt:lpstr>
      <vt:lpstr>Компоновка с помощью панелей</vt:lpstr>
      <vt:lpstr>Компоновка с помощью панелей</vt:lpstr>
      <vt:lpstr>Компоновка с помощью панелей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Ауд-Нагатинская-819 Преподаватель</cp:lastModifiedBy>
  <cp:revision>125</cp:revision>
  <dcterms:created xsi:type="dcterms:W3CDTF">2021-09-01T13:47:28Z</dcterms:created>
  <dcterms:modified xsi:type="dcterms:W3CDTF">2026-02-17T12:15:13Z</dcterms:modified>
</cp:coreProperties>
</file>